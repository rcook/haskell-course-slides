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  <p:sldMasterId id="2147483672" r:id="rId2"/>
  </p:sldMasterIdLst>
  <p:notesMasterIdLst>
    <p:notesMasterId r:id="rId9"/>
  </p:notesMasterIdLst>
  <p:sldIdLst>
    <p:sldId id="258" r:id="rId3"/>
    <p:sldId id="259" r:id="rId4"/>
    <p:sldId id="262" r:id="rId5"/>
    <p:sldId id="263" r:id="rId6"/>
    <p:sldId id="264" r:id="rId7"/>
    <p:sldId id="261" r:id="rId8"/>
  </p:sldIdLst>
  <p:sldSz cx="12192000" cy="6858000"/>
  <p:notesSz cx="68580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Segoe UI Light" panose="020B0502040204020203" pitchFamily="34" charset="0"/>
      <p:regular r:id="rId14"/>
      <p:italic r:id="rId15"/>
    </p:embeddedFont>
    <p:embeddedFont>
      <p:font typeface="Century Gothic" panose="020B0502020202020204" pitchFamily="34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51"/>
    <p:restoredTop sz="94414"/>
  </p:normalViewPr>
  <p:slideViewPr>
    <p:cSldViewPr snapToGrid="0">
      <p:cViewPr varScale="1">
        <p:scale>
          <a:sx n="81" d="100"/>
          <a:sy n="81" d="100"/>
        </p:scale>
        <p:origin x="92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2.fntdata"/><Relationship Id="rId5" Type="http://schemas.openxmlformats.org/officeDocument/2006/relationships/slide" Target="slides/slide3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85FA7-C0FE-1043-BE6D-D5D85B1C524E}" type="datetimeFigureOut">
              <a:rPr lang="en-US" smtClean="0"/>
              <a:t>3/26/2017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A638D0-195B-BA44-9ED4-8AFD6DBC2D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462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015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042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32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733">
                <a:solidFill>
                  <a:schemeClr val="tx1">
                    <a:tint val="75000"/>
                  </a:schemeClr>
                </a:solidFill>
              </a:defRPr>
            </a:lvl1pPr>
            <a:lvl2pPr marL="609544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908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32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4pPr>
            <a:lvl5pPr marL="2438176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5pPr>
            <a:lvl6pPr marL="3047721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6pPr>
            <a:lvl7pPr marL="3657264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7pPr>
            <a:lvl8pPr marL="4266808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8pPr>
            <a:lvl9pPr marL="4876353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0856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4675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535114"/>
            <a:ext cx="5386917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174876"/>
            <a:ext cx="5386917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6"/>
            <a:ext cx="5389033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77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4111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5037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1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332"/>
            </a:lvl1pPr>
            <a:lvl2pPr>
              <a:defRPr sz="3732"/>
            </a:lvl2pPr>
            <a:lvl3pPr>
              <a:defRPr sz="3199"/>
            </a:lvl3pPr>
            <a:lvl4pPr>
              <a:defRPr sz="2733"/>
            </a:lvl4pPr>
            <a:lvl5pPr>
              <a:defRPr sz="2733"/>
            </a:lvl5pPr>
            <a:lvl6pPr>
              <a:defRPr sz="2733"/>
            </a:lvl6pPr>
            <a:lvl7pPr>
              <a:defRPr sz="2733"/>
            </a:lvl7pPr>
            <a:lvl8pPr>
              <a:defRPr sz="2733"/>
            </a:lvl8pPr>
            <a:lvl9pPr>
              <a:defRPr sz="27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4863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0" cy="566739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332"/>
            </a:lvl1pPr>
            <a:lvl2pPr marL="609544" indent="0">
              <a:buNone/>
              <a:defRPr sz="3732"/>
            </a:lvl2pPr>
            <a:lvl3pPr marL="1219088" indent="0">
              <a:buNone/>
              <a:defRPr sz="3199"/>
            </a:lvl3pPr>
            <a:lvl4pPr marL="1828632" indent="0">
              <a:buNone/>
              <a:defRPr sz="2733"/>
            </a:lvl4pPr>
            <a:lvl5pPr marL="2438176" indent="0">
              <a:buNone/>
              <a:defRPr sz="2733"/>
            </a:lvl5pPr>
            <a:lvl6pPr marL="3047721" indent="0">
              <a:buNone/>
              <a:defRPr sz="2733"/>
            </a:lvl6pPr>
            <a:lvl7pPr marL="3657264" indent="0">
              <a:buNone/>
              <a:defRPr sz="2733"/>
            </a:lvl7pPr>
            <a:lvl8pPr marL="4266808" indent="0">
              <a:buNone/>
              <a:defRPr sz="2733"/>
            </a:lvl8pPr>
            <a:lvl9pPr marL="4876353" indent="0">
              <a:buNone/>
              <a:defRPr sz="27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6583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0961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1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492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9660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5406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32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733">
                <a:solidFill>
                  <a:schemeClr val="tx1">
                    <a:tint val="75000"/>
                  </a:schemeClr>
                </a:solidFill>
              </a:defRPr>
            </a:lvl1pPr>
            <a:lvl2pPr marL="609544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908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32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4pPr>
            <a:lvl5pPr marL="2438176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5pPr>
            <a:lvl6pPr marL="3047721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6pPr>
            <a:lvl7pPr marL="3657264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7pPr>
            <a:lvl8pPr marL="4266808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8pPr>
            <a:lvl9pPr marL="4876353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90426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7758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535114"/>
            <a:ext cx="5386917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174876"/>
            <a:ext cx="5386917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6"/>
            <a:ext cx="5389033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26042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324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55370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1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332"/>
            </a:lvl1pPr>
            <a:lvl2pPr>
              <a:defRPr sz="3732"/>
            </a:lvl2pPr>
            <a:lvl3pPr>
              <a:defRPr sz="3199"/>
            </a:lvl3pPr>
            <a:lvl4pPr>
              <a:defRPr sz="2733"/>
            </a:lvl4pPr>
            <a:lvl5pPr>
              <a:defRPr sz="2733"/>
            </a:lvl5pPr>
            <a:lvl6pPr>
              <a:defRPr sz="2733"/>
            </a:lvl6pPr>
            <a:lvl7pPr>
              <a:defRPr sz="2733"/>
            </a:lvl7pPr>
            <a:lvl8pPr>
              <a:defRPr sz="2733"/>
            </a:lvl8pPr>
            <a:lvl9pPr>
              <a:defRPr sz="27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26654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0" cy="566739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332"/>
            </a:lvl1pPr>
            <a:lvl2pPr marL="609544" indent="0">
              <a:buNone/>
              <a:defRPr sz="3732"/>
            </a:lvl2pPr>
            <a:lvl3pPr marL="1219088" indent="0">
              <a:buNone/>
              <a:defRPr sz="3199"/>
            </a:lvl3pPr>
            <a:lvl4pPr marL="1828632" indent="0">
              <a:buNone/>
              <a:defRPr sz="2733"/>
            </a:lvl4pPr>
            <a:lvl5pPr marL="2438176" indent="0">
              <a:buNone/>
              <a:defRPr sz="2733"/>
            </a:lvl5pPr>
            <a:lvl6pPr marL="3047721" indent="0">
              <a:buNone/>
              <a:defRPr sz="2733"/>
            </a:lvl6pPr>
            <a:lvl7pPr marL="3657264" indent="0">
              <a:buNone/>
              <a:defRPr sz="2733"/>
            </a:lvl7pPr>
            <a:lvl8pPr marL="4266808" indent="0">
              <a:buNone/>
              <a:defRPr sz="2733"/>
            </a:lvl8pPr>
            <a:lvl9pPr marL="4876353" indent="0">
              <a:buNone/>
              <a:defRPr sz="27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4322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14178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1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3857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1143000"/>
          </a:xfrm>
          <a:prstGeom prst="rect">
            <a:avLst/>
          </a:prstGeom>
        </p:spPr>
        <p:txBody>
          <a:bodyPr vert="horz" lIns="182909" tIns="91454" rIns="182909" bIns="91454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182909" tIns="91454" rIns="182909" bIns="9145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724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088" rtl="0" eaLnBrk="1" latinLnBrk="0" hangingPunct="1">
        <a:spcBef>
          <a:spcPct val="0"/>
        </a:spcBef>
        <a:buNone/>
        <a:defRPr sz="59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58" indent="-457158" algn="l" defTabSz="1219088" rtl="0" eaLnBrk="1" latinLnBrk="0" hangingPunct="1">
        <a:spcBef>
          <a:spcPct val="20000"/>
        </a:spcBef>
        <a:buFont typeface="Arial" pitchFamily="34" charset="0"/>
        <a:buChar char="•"/>
        <a:defRPr sz="4332" kern="1200">
          <a:solidFill>
            <a:schemeClr val="tx1"/>
          </a:solidFill>
          <a:latin typeface="+mn-lt"/>
          <a:ea typeface="+mn-ea"/>
          <a:cs typeface="+mn-cs"/>
        </a:defRPr>
      </a:lvl1pPr>
      <a:lvl2pPr marL="990510" indent="-380965" algn="l" defTabSz="1219088" rtl="0" eaLnBrk="1" latinLnBrk="0" hangingPunct="1">
        <a:spcBef>
          <a:spcPct val="20000"/>
        </a:spcBef>
        <a:buFont typeface="Arial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860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405" indent="-304772" algn="l" defTabSz="1219088" rtl="0" eaLnBrk="1" latinLnBrk="0" hangingPunct="1">
        <a:spcBef>
          <a:spcPct val="20000"/>
        </a:spcBef>
        <a:buFont typeface="Arial" pitchFamily="34" charset="0"/>
        <a:buChar char="–"/>
        <a:defRPr sz="2733" kern="1200">
          <a:solidFill>
            <a:schemeClr val="tx1"/>
          </a:solidFill>
          <a:latin typeface="+mn-lt"/>
          <a:ea typeface="+mn-ea"/>
          <a:cs typeface="+mn-cs"/>
        </a:defRPr>
      </a:lvl4pPr>
      <a:lvl5pPr marL="2742948" indent="-304772" algn="l" defTabSz="1219088" rtl="0" eaLnBrk="1" latinLnBrk="0" hangingPunct="1">
        <a:spcBef>
          <a:spcPct val="20000"/>
        </a:spcBef>
        <a:buFont typeface="Arial" pitchFamily="34" charset="0"/>
        <a:buChar char="»"/>
        <a:defRPr sz="27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492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6pPr>
      <a:lvl7pPr marL="3962037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7pPr>
      <a:lvl8pPr marL="4571581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8pPr>
      <a:lvl9pPr marL="5181124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54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908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632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8176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721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726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80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6353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1143000"/>
          </a:xfrm>
          <a:prstGeom prst="rect">
            <a:avLst/>
          </a:prstGeom>
        </p:spPr>
        <p:txBody>
          <a:bodyPr vert="horz" lIns="182909" tIns="91454" rIns="182909" bIns="91454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182909" tIns="91454" rIns="182909" bIns="9145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9905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1219088" rtl="0" eaLnBrk="1" latinLnBrk="0" hangingPunct="1">
        <a:spcBef>
          <a:spcPct val="0"/>
        </a:spcBef>
        <a:buNone/>
        <a:defRPr sz="59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58" indent="-457158" algn="l" defTabSz="1219088" rtl="0" eaLnBrk="1" latinLnBrk="0" hangingPunct="1">
        <a:spcBef>
          <a:spcPct val="20000"/>
        </a:spcBef>
        <a:buFont typeface="Arial" pitchFamily="34" charset="0"/>
        <a:buChar char="•"/>
        <a:defRPr sz="4332" kern="1200">
          <a:solidFill>
            <a:schemeClr val="tx1"/>
          </a:solidFill>
          <a:latin typeface="+mn-lt"/>
          <a:ea typeface="+mn-ea"/>
          <a:cs typeface="+mn-cs"/>
        </a:defRPr>
      </a:lvl1pPr>
      <a:lvl2pPr marL="990510" indent="-380965" algn="l" defTabSz="1219088" rtl="0" eaLnBrk="1" latinLnBrk="0" hangingPunct="1">
        <a:spcBef>
          <a:spcPct val="20000"/>
        </a:spcBef>
        <a:buFont typeface="Arial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860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405" indent="-304772" algn="l" defTabSz="1219088" rtl="0" eaLnBrk="1" latinLnBrk="0" hangingPunct="1">
        <a:spcBef>
          <a:spcPct val="20000"/>
        </a:spcBef>
        <a:buFont typeface="Arial" pitchFamily="34" charset="0"/>
        <a:buChar char="–"/>
        <a:defRPr sz="2733" kern="1200">
          <a:solidFill>
            <a:schemeClr val="tx1"/>
          </a:solidFill>
          <a:latin typeface="+mn-lt"/>
          <a:ea typeface="+mn-ea"/>
          <a:cs typeface="+mn-cs"/>
        </a:defRPr>
      </a:lvl4pPr>
      <a:lvl5pPr marL="2742948" indent="-304772" algn="l" defTabSz="1219088" rtl="0" eaLnBrk="1" latinLnBrk="0" hangingPunct="1">
        <a:spcBef>
          <a:spcPct val="20000"/>
        </a:spcBef>
        <a:buFont typeface="Arial" pitchFamily="34" charset="0"/>
        <a:buChar char="»"/>
        <a:defRPr sz="27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492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6pPr>
      <a:lvl7pPr marL="3962037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7pPr>
      <a:lvl8pPr marL="4571581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8pPr>
      <a:lvl9pPr marL="5181124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54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908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632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8176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721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726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80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6353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4885" y="332555"/>
            <a:ext cx="11439744" cy="479084"/>
          </a:xfrm>
          <a:prstGeom prst="rect">
            <a:avLst/>
          </a:prstGeom>
          <a:noFill/>
        </p:spPr>
        <p:txBody>
          <a:bodyPr wrap="square" lIns="108820" tIns="54409" rIns="108820" bIns="54409">
            <a:spAutoFit/>
          </a:bodyPr>
          <a:lstStyle/>
          <a:p>
            <a:pPr defTabSz="1088268"/>
            <a:r>
              <a:rPr lang="en-IN" sz="2399" spc="59">
                <a:ln w="12700" cmpd="sng">
                  <a:noFill/>
                  <a:prstDash val="solid"/>
                </a:ln>
                <a:solidFill>
                  <a:prstClr val="white">
                    <a:lumMod val="75000"/>
                  </a:prst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Writing Haskell Programs</a:t>
            </a:r>
            <a:endParaRPr lang="en-IN" sz="2399" spc="59" dirty="0">
              <a:ln w="12700" cmpd="sng">
                <a:noFill/>
                <a:prstDash val="solid"/>
              </a:ln>
              <a:solidFill>
                <a:prstClr val="white">
                  <a:lumMod val="75000"/>
                </a:prst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8042" y="1004720"/>
            <a:ext cx="7196487" cy="407334"/>
          </a:xfrm>
          <a:prstGeom prst="rect">
            <a:avLst/>
          </a:prstGeom>
          <a:noFill/>
        </p:spPr>
        <p:txBody>
          <a:bodyPr wrap="square" lIns="108820" tIns="54409" rIns="108820" bIns="54409">
            <a:spAutoFit/>
          </a:bodyPr>
          <a:lstStyle/>
          <a:p>
            <a:pPr algn="r" defTabSz="1088268"/>
            <a:r>
              <a:rPr lang="en-US" sz="1933" i="1" dirty="0">
                <a:ln w="18415" cmpd="sng">
                  <a:noFill/>
                  <a:prstDash val="solid"/>
                </a:ln>
                <a:solidFill>
                  <a:prstClr val="white">
                    <a:lumMod val="75000"/>
                  </a:prstClr>
                </a:solidFill>
                <a:latin typeface="Century Gothic" panose="020B0502020202020204" pitchFamily="34" charset="0"/>
              </a:rPr>
              <a:t>Richard Cook</a:t>
            </a: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528042" y="836459"/>
            <a:ext cx="7949802" cy="2"/>
          </a:xfrm>
          <a:prstGeom prst="line">
            <a:avLst/>
          </a:prstGeom>
          <a:noFill/>
          <a:ln w="9525" cap="flat" cmpd="sng" algn="ctr">
            <a:solidFill>
              <a:sysClr val="window" lastClr="FFFFFF"/>
            </a:solidFill>
            <a:prstDash val="soli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166196" y="2492127"/>
            <a:ext cx="5540831" cy="622778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r" defTabSz="1088268"/>
            <a:r>
              <a:rPr lang="en-US" sz="3333" b="1" dirty="0">
                <a:solidFill>
                  <a:prstClr val="white"/>
                </a:solidFill>
                <a:latin typeface="Segoe UI Light" panose="020B0502040204020203" pitchFamily="34" charset="0"/>
                <a:cs typeface="Gisha" panose="020B0502040204020203" pitchFamily="34" charset="-79"/>
              </a:rPr>
              <a:t>Video 1.3</a:t>
            </a:r>
            <a:endParaRPr lang="en-IN" sz="3333" b="1" dirty="0">
              <a:solidFill>
                <a:prstClr val="white"/>
              </a:solidFill>
              <a:latin typeface="Segoe UI Light" panose="020B0502040204020203" pitchFamily="34" charset="0"/>
              <a:cs typeface="Gisha" panose="020B0502040204020203" pitchFamily="34" charset="-79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8042" y="3279936"/>
            <a:ext cx="9224430" cy="766342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r" defTabSz="1088268"/>
            <a:r>
              <a:rPr lang="en-IN" sz="4266" i="1" dirty="0">
                <a:solidFill>
                  <a:srgbClr val="F79646">
                    <a:lumMod val="75000"/>
                  </a:srgbClr>
                </a:solidFill>
                <a:latin typeface="Century Gothic" panose="020B0502020202020204" pitchFamily="34" charset="0"/>
              </a:rPr>
              <a:t>Stack in detail</a:t>
            </a:r>
          </a:p>
        </p:txBody>
      </p:sp>
      <p:sp>
        <p:nvSpPr>
          <p:cNvPr id="10" name="Isosceles Triangle 9"/>
          <p:cNvSpPr>
            <a:spLocks/>
          </p:cNvSpPr>
          <p:nvPr/>
        </p:nvSpPr>
        <p:spPr>
          <a:xfrm rot="5400000">
            <a:off x="9799911" y="3295041"/>
            <a:ext cx="1079667" cy="839741"/>
          </a:xfrm>
          <a:prstGeom prst="triangle">
            <a:avLst>
              <a:gd name="adj" fmla="val 51425"/>
            </a:avLst>
          </a:prstGeom>
          <a:solidFill>
            <a:srgbClr val="72AF2F"/>
          </a:solidFill>
          <a:ln w="25400" cap="flat" cmpd="sng" algn="ctr">
            <a:noFill/>
            <a:prstDash val="solid"/>
          </a:ln>
          <a:effectLst/>
        </p:spPr>
        <p:txBody>
          <a:bodyPr lIns="108820" tIns="54409" rIns="108820" bIns="54409" rtlCol="0" anchor="ctr"/>
          <a:lstStyle/>
          <a:p>
            <a:pPr algn="ctr" defTabSz="1088268">
              <a:defRPr/>
            </a:pPr>
            <a:endParaRPr lang="en-IN" sz="2133" kern="0" dirty="0">
              <a:ln>
                <a:solidFill>
                  <a:srgbClr val="9BBB59"/>
                </a:solidFill>
              </a:ln>
              <a:solidFill>
                <a:srgbClr val="9BBB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533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In this Video, we are going to take a look at…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2694306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What is Stack?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Review of basic commands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Various options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Other commands</a:t>
            </a:r>
          </a:p>
        </p:txBody>
      </p:sp>
    </p:spTree>
    <p:extLst>
      <p:ext uri="{BB962C8B-B14F-4D97-AF65-F5344CB8AC3E}">
        <p14:creationId xmlns:p14="http://schemas.microsoft.com/office/powerpoint/2010/main" val="2238098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Stack commands we’ve already seen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2263497"/>
              </p:ext>
            </p:extLst>
          </p:nvPr>
        </p:nvGraphicFramePr>
        <p:xfrm>
          <a:off x="2032000" y="1645920"/>
          <a:ext cx="8128000" cy="3566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6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5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i="1" dirty="0"/>
                        <a:t>stack</a:t>
                      </a:r>
                      <a:r>
                        <a:rPr lang="en-US" sz="2000" b="1" i="1" baseline="0" dirty="0"/>
                        <a:t> new</a:t>
                      </a:r>
                      <a:endParaRPr lang="en-US" sz="20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Create</a:t>
                      </a:r>
                      <a:r>
                        <a:rPr lang="en-US" sz="2000" baseline="0" dirty="0"/>
                        <a:t> new project from template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i="1" dirty="0"/>
                        <a:t>stack build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Build</a:t>
                      </a:r>
                      <a:r>
                        <a:rPr lang="en-US" sz="2000" baseline="0" dirty="0"/>
                        <a:t> current package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i="1" dirty="0"/>
                        <a:t>stack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Install</a:t>
                      </a:r>
                      <a:r>
                        <a:rPr lang="en-US" sz="2000" baseline="0" dirty="0"/>
                        <a:t> compiler for package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i="1" dirty="0"/>
                        <a:t>stack exec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Execute command in package’s context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i="1" dirty="0"/>
                        <a:t>stack </a:t>
                      </a:r>
                      <a:r>
                        <a:rPr lang="en-US" sz="2000" b="1" i="1" dirty="0" err="1"/>
                        <a:t>ghc</a:t>
                      </a:r>
                      <a:endParaRPr lang="en-US" sz="20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Run</a:t>
                      </a:r>
                      <a:r>
                        <a:rPr lang="en-US" sz="2000" baseline="0" dirty="0"/>
                        <a:t> GHC compiler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i="1" dirty="0"/>
                        <a:t>stack </a:t>
                      </a:r>
                      <a:r>
                        <a:rPr lang="en-US" sz="2000" b="1" i="1" dirty="0" err="1"/>
                        <a:t>runghc</a:t>
                      </a:r>
                      <a:endParaRPr lang="en-US" sz="20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Run</a:t>
                      </a:r>
                      <a:r>
                        <a:rPr lang="en-US" sz="2000" baseline="0" dirty="0"/>
                        <a:t> source file in interpreted mode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i="1" dirty="0"/>
                        <a:t>stack </a:t>
                      </a:r>
                      <a:r>
                        <a:rPr lang="en-US" sz="2000" b="1" i="1" dirty="0" err="1"/>
                        <a:t>ghci</a:t>
                      </a:r>
                      <a:endParaRPr lang="en-US" sz="20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Run</a:t>
                      </a:r>
                      <a:r>
                        <a:rPr lang="en-US" sz="2000" baseline="0" dirty="0"/>
                        <a:t> GHCi in package’s context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i="1" dirty="0"/>
                        <a:t>stack install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Install</a:t>
                      </a:r>
                      <a:r>
                        <a:rPr lang="en-US" sz="2000" baseline="0" dirty="0"/>
                        <a:t> package’s executables in user’s path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i="1" dirty="0"/>
                        <a:t>stack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Run project’s test suite(s)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5147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Most commonly used advanced commands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11595"/>
              </p:ext>
            </p:extLst>
          </p:nvPr>
        </p:nvGraphicFramePr>
        <p:xfrm>
          <a:off x="2032000" y="1447800"/>
          <a:ext cx="8128000" cy="39624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6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5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i="1" dirty="0"/>
                        <a:t>stack</a:t>
                      </a:r>
                      <a:r>
                        <a:rPr lang="en-US" sz="2000" b="1" i="1" baseline="0" dirty="0"/>
                        <a:t> bench</a:t>
                      </a:r>
                      <a:endParaRPr lang="en-US" sz="20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Build and run “benchmark” targets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i="1" dirty="0"/>
                        <a:t>stack</a:t>
                      </a:r>
                      <a:r>
                        <a:rPr lang="en-US" sz="2000" b="1" i="1" baseline="0" dirty="0"/>
                        <a:t> haddock</a:t>
                      </a:r>
                      <a:endParaRPr lang="en-US" sz="20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Build</a:t>
                      </a:r>
                      <a:r>
                        <a:rPr lang="en-US" sz="2000" baseline="0" dirty="0"/>
                        <a:t> documentation for package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i="1" dirty="0"/>
                        <a:t>stack</a:t>
                      </a:r>
                      <a:r>
                        <a:rPr lang="en-US" sz="2000" b="1" i="1" baseline="0" dirty="0"/>
                        <a:t> templates</a:t>
                      </a:r>
                      <a:endParaRPr lang="en-US" sz="20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List all available templates for </a:t>
                      </a:r>
                      <a:r>
                        <a:rPr lang="en-US" sz="2000" b="1" i="1" dirty="0"/>
                        <a:t>stack new</a:t>
                      </a:r>
                      <a:r>
                        <a:rPr lang="en-US" sz="2000" dirty="0"/>
                        <a:t> command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i="1" dirty="0"/>
                        <a:t>stack</a:t>
                      </a:r>
                      <a:r>
                        <a:rPr lang="en-US" sz="2000" b="1" i="1" baseline="0" dirty="0"/>
                        <a:t> </a:t>
                      </a:r>
                      <a:r>
                        <a:rPr lang="en-US" sz="2000" b="1" i="1" baseline="0" dirty="0" err="1"/>
                        <a:t>init</a:t>
                      </a:r>
                      <a:endParaRPr lang="en-US" sz="20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Create Stack</a:t>
                      </a:r>
                      <a:r>
                        <a:rPr lang="en-US" sz="2000" baseline="0" dirty="0"/>
                        <a:t> configuration for </a:t>
                      </a:r>
                      <a:r>
                        <a:rPr lang="en-US" sz="2000" b="1" i="1" baseline="0" dirty="0"/>
                        <a:t>.cabal</a:t>
                      </a:r>
                      <a:r>
                        <a:rPr lang="en-US" sz="2000" baseline="0" dirty="0"/>
                        <a:t>-based project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i="1" dirty="0"/>
                        <a:t>stack</a:t>
                      </a:r>
                      <a:r>
                        <a:rPr lang="en-US" sz="2000" b="1" i="1" baseline="0" dirty="0"/>
                        <a:t> path</a:t>
                      </a:r>
                      <a:endParaRPr lang="en-US" sz="20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Print out various Stack-related</a:t>
                      </a:r>
                      <a:r>
                        <a:rPr lang="en-US" sz="2000" baseline="0" dirty="0"/>
                        <a:t> paths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i="1" dirty="0"/>
                        <a:t>stack</a:t>
                      </a:r>
                      <a:r>
                        <a:rPr lang="en-US" sz="2000" b="1" i="1" baseline="0" dirty="0"/>
                        <a:t> upgrade</a:t>
                      </a:r>
                      <a:endParaRPr lang="en-US" sz="20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Upgrade</a:t>
                      </a:r>
                      <a:r>
                        <a:rPr lang="en-US" sz="2000" baseline="0" dirty="0"/>
                        <a:t> to latest version of Stack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i="1" dirty="0"/>
                        <a:t>stack</a:t>
                      </a:r>
                      <a:r>
                        <a:rPr lang="en-US" sz="2000" b="1" i="1" baseline="0" dirty="0"/>
                        <a:t> upload</a:t>
                      </a:r>
                      <a:endParaRPr lang="en-US" sz="20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Upload package to Hackage repository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i="1" dirty="0"/>
                        <a:t>stack</a:t>
                      </a:r>
                      <a:r>
                        <a:rPr lang="en-US" sz="2000" b="1" i="1" baseline="0" dirty="0"/>
                        <a:t> </a:t>
                      </a:r>
                      <a:r>
                        <a:rPr lang="en-US" sz="2000" b="1" i="1" baseline="0" dirty="0" err="1"/>
                        <a:t>sdist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Create source distribution archive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i="1" dirty="0"/>
                        <a:t>stack</a:t>
                      </a:r>
                      <a:r>
                        <a:rPr lang="en-US" sz="2000" b="1" i="1" baseline="0" dirty="0"/>
                        <a:t> </a:t>
                      </a:r>
                      <a:r>
                        <a:rPr lang="en-US" sz="2000" b="1" i="1" baseline="0" dirty="0" err="1"/>
                        <a:t>hoogle</a:t>
                      </a:r>
                      <a:endParaRPr lang="en-US" sz="20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Search with Hoogle search engine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i="1" dirty="0"/>
                        <a:t>stack clean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Clean package files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5922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Even more advanced Stack usage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1955899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Stack commands can be run outside project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Stack projects can contain more than one project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b="1" i="1" dirty="0">
                <a:solidFill>
                  <a:prstClr val="white"/>
                </a:solidFill>
                <a:latin typeface="Segoe UI Light" panose="020B0502040204020203" pitchFamily="34" charset="0"/>
              </a:rPr>
              <a:t>.cabal</a:t>
            </a: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 files can set compiler options which can overridden by Stack</a:t>
            </a:r>
          </a:p>
        </p:txBody>
      </p:sp>
    </p:spTree>
    <p:extLst>
      <p:ext uri="{BB962C8B-B14F-4D97-AF65-F5344CB8AC3E}">
        <p14:creationId xmlns:p14="http://schemas.microsoft.com/office/powerpoint/2010/main" val="1002820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24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Next 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5117" y="3124295"/>
            <a:ext cx="11121767" cy="725306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ctr" defTabSz="1088268"/>
            <a:r>
              <a:rPr lang="en-US" sz="3999">
                <a:solidFill>
                  <a:prstClr val="white"/>
                </a:solidFill>
                <a:latin typeface="Segoe UI Light" panose="020B0502040204020203" pitchFamily="34" charset="0"/>
              </a:rPr>
              <a:t>Stack hints and tips</a:t>
            </a:r>
            <a:endParaRPr lang="en-IN" sz="39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151549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219</Words>
  <Application>Microsoft Office PowerPoint</Application>
  <PresentationFormat>Widescreen</PresentationFormat>
  <Paragraphs>60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Gisha</vt:lpstr>
      <vt:lpstr>Segoe UI Light</vt:lpstr>
      <vt:lpstr>Century Gothic</vt:lpstr>
      <vt:lpstr>1_Office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Mayur Hule</dc:creator>
  <cp:lastModifiedBy>Richard Cook</cp:lastModifiedBy>
  <cp:revision>113</cp:revision>
  <dcterms:created xsi:type="dcterms:W3CDTF">2015-06-11T06:54:04Z</dcterms:created>
  <dcterms:modified xsi:type="dcterms:W3CDTF">2017-03-26T19:15:04Z</dcterms:modified>
</cp:coreProperties>
</file>