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8"/>
  </p:notesMasterIdLst>
  <p:sldIdLst>
    <p:sldId id="258" r:id="rId3"/>
    <p:sldId id="270" r:id="rId4"/>
    <p:sldId id="273" r:id="rId5"/>
    <p:sldId id="274" r:id="rId6"/>
    <p:sldId id="269"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7857" autoAdjust="0"/>
  </p:normalViewPr>
  <p:slideViewPr>
    <p:cSldViewPr>
      <p:cViewPr varScale="1">
        <p:scale>
          <a:sx n="120" d="100"/>
          <a:sy n="120" d="100"/>
        </p:scale>
        <p:origin x="1360" y="8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719369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2627675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2.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a:t>Parsing and writing YAML</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Storing data on the file system</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Why YAML?</a:t>
            </a:r>
          </a:p>
          <a:p>
            <a:pPr marL="457200" lvl="0" indent="-355600" rtl="0">
              <a:spcBef>
                <a:spcPts val="0"/>
              </a:spcBef>
              <a:buClr>
                <a:srgbClr val="434343"/>
              </a:buClr>
              <a:buSzPct val="100000"/>
              <a:buChar char="●"/>
            </a:pPr>
            <a:r>
              <a:rPr lang="en-US" sz="2000" dirty="0">
                <a:solidFill>
                  <a:srgbClr val="434343"/>
                </a:solidFill>
              </a:rPr>
              <a:t>The </a:t>
            </a:r>
            <a:r>
              <a:rPr lang="en-US" sz="2000" b="1" i="1" dirty="0" err="1">
                <a:solidFill>
                  <a:srgbClr val="434343"/>
                </a:solidFill>
              </a:rPr>
              <a:t>aeson</a:t>
            </a:r>
            <a:r>
              <a:rPr lang="en-US" sz="2000" dirty="0">
                <a:solidFill>
                  <a:srgbClr val="434343"/>
                </a:solidFill>
              </a:rPr>
              <a:t> and </a:t>
            </a:r>
            <a:r>
              <a:rPr lang="en-US" sz="2000" b="1" i="1" dirty="0" err="1">
                <a:solidFill>
                  <a:srgbClr val="434343"/>
                </a:solidFill>
              </a:rPr>
              <a:t>yaml</a:t>
            </a:r>
            <a:r>
              <a:rPr lang="en-US" sz="2000" dirty="0">
                <a:solidFill>
                  <a:srgbClr val="434343"/>
                </a:solidFill>
              </a:rPr>
              <a:t> packages</a:t>
            </a:r>
          </a:p>
          <a:p>
            <a:pPr marL="457200" lvl="0" indent="-355600" rtl="0">
              <a:spcBef>
                <a:spcPts val="0"/>
              </a:spcBef>
              <a:buClr>
                <a:srgbClr val="434343"/>
              </a:buClr>
              <a:buSzPct val="100000"/>
              <a:buChar char="●"/>
            </a:pPr>
            <a:r>
              <a:rPr lang="en-US" sz="2000" dirty="0">
                <a:solidFill>
                  <a:srgbClr val="434343"/>
                </a:solidFill>
              </a:rPr>
              <a:t>Why </a:t>
            </a:r>
            <a:r>
              <a:rPr lang="en-US" sz="2000" b="1" i="1" dirty="0" err="1">
                <a:solidFill>
                  <a:srgbClr val="434343"/>
                </a:solidFill>
              </a:rPr>
              <a:t>aeson</a:t>
            </a:r>
            <a:r>
              <a:rPr lang="en-US" sz="2000" dirty="0">
                <a:solidFill>
                  <a:srgbClr val="434343"/>
                </a:solidFill>
              </a:rPr>
              <a:t>?</a:t>
            </a:r>
          </a:p>
          <a:p>
            <a:pPr marL="457200" lvl="0" indent="-355600" rtl="0">
              <a:spcBef>
                <a:spcPts val="0"/>
              </a:spcBef>
              <a:buClr>
                <a:srgbClr val="434343"/>
              </a:buClr>
              <a:buSzPct val="100000"/>
              <a:buChar char="●"/>
            </a:pPr>
            <a:r>
              <a:rPr lang="en-US" sz="2000" b="1" i="1" dirty="0" err="1">
                <a:solidFill>
                  <a:srgbClr val="434343"/>
                </a:solidFill>
              </a:rPr>
              <a:t>ToDoList</a:t>
            </a:r>
            <a:r>
              <a:rPr lang="en-US" sz="2000" dirty="0">
                <a:solidFill>
                  <a:srgbClr val="434343"/>
                </a:solidFill>
              </a:rPr>
              <a:t> and other data structures for our to-do list</a:t>
            </a: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a:t>Why YAML?</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It’s universal</a:t>
            </a:r>
          </a:p>
          <a:p>
            <a:pPr marL="457200" lvl="0" indent="-355600" rtl="0">
              <a:spcBef>
                <a:spcPts val="0"/>
              </a:spcBef>
              <a:buClr>
                <a:srgbClr val="434343"/>
              </a:buClr>
              <a:buSzPct val="100000"/>
              <a:buChar char="●"/>
            </a:pPr>
            <a:r>
              <a:rPr lang="en-US" sz="2000" dirty="0">
                <a:solidFill>
                  <a:srgbClr val="434343"/>
                </a:solidFill>
              </a:rPr>
              <a:t>It’s open and platform-independent</a:t>
            </a:r>
          </a:p>
          <a:p>
            <a:pPr marL="457200" lvl="0" indent="-355600" rtl="0">
              <a:spcBef>
                <a:spcPts val="0"/>
              </a:spcBef>
              <a:buClr>
                <a:srgbClr val="434343"/>
              </a:buClr>
              <a:buSzPct val="100000"/>
              <a:buChar char="●"/>
            </a:pPr>
            <a:r>
              <a:rPr lang="en-US" sz="2000" dirty="0">
                <a:solidFill>
                  <a:srgbClr val="434343"/>
                </a:solidFill>
              </a:rPr>
              <a:t>It’s sufficiently expressive</a:t>
            </a:r>
          </a:p>
          <a:p>
            <a:pPr marL="457200" lvl="0" indent="-355600" rtl="0">
              <a:spcBef>
                <a:spcPts val="0"/>
              </a:spcBef>
              <a:buClr>
                <a:srgbClr val="434343"/>
              </a:buClr>
              <a:buSzPct val="100000"/>
              <a:buChar char="●"/>
            </a:pPr>
            <a:r>
              <a:rPr lang="en-US" sz="2000" dirty="0">
                <a:solidFill>
                  <a:srgbClr val="434343"/>
                </a:solidFill>
              </a:rPr>
              <a:t>It’s very human-readable</a:t>
            </a:r>
          </a:p>
          <a:p>
            <a:pPr marL="457200" lvl="0" indent="-355600" rtl="0">
              <a:spcBef>
                <a:spcPts val="0"/>
              </a:spcBef>
              <a:buClr>
                <a:srgbClr val="434343"/>
              </a:buClr>
              <a:buSzPct val="100000"/>
              <a:buChar char="●"/>
            </a:pPr>
            <a:r>
              <a:rPr lang="en-US" sz="2000" dirty="0">
                <a:solidFill>
                  <a:srgbClr val="434343"/>
                </a:solidFill>
              </a:rPr>
              <a:t>It’s well-supported by Haskell</a:t>
            </a:r>
          </a:p>
          <a:p>
            <a:pPr marL="457200" lvl="0" indent="-355600" rtl="0">
              <a:spcBef>
                <a:spcPts val="0"/>
              </a:spcBef>
              <a:buClr>
                <a:srgbClr val="434343"/>
              </a:buClr>
              <a:buSzPct val="100000"/>
              <a:buChar char="●"/>
            </a:pPr>
            <a:r>
              <a:rPr lang="en-US" sz="2000" dirty="0">
                <a:solidFill>
                  <a:srgbClr val="434343"/>
                </a:solidFill>
              </a:rPr>
              <a:t>It’s closely related to JSON</a:t>
            </a:r>
          </a:p>
        </p:txBody>
      </p:sp>
    </p:spTree>
    <p:extLst>
      <p:ext uri="{BB962C8B-B14F-4D97-AF65-F5344CB8AC3E}">
        <p14:creationId xmlns:p14="http://schemas.microsoft.com/office/powerpoint/2010/main" val="206741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Why </a:t>
            </a:r>
            <a:r>
              <a:rPr lang="en-US" sz="2200" b="1" i="1" dirty="0" err="1"/>
              <a:t>aeson</a:t>
            </a:r>
            <a:r>
              <a:rPr lang="en-US" sz="2200" dirty="0"/>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a:solidFill>
                  <a:srgbClr val="434343"/>
                </a:solidFill>
              </a:rPr>
              <a:t>It’s high-quality</a:t>
            </a:r>
          </a:p>
          <a:p>
            <a:pPr marL="457200" lvl="0" indent="-355600" rtl="0">
              <a:spcBef>
                <a:spcPts val="0"/>
              </a:spcBef>
              <a:buClr>
                <a:srgbClr val="434343"/>
              </a:buClr>
              <a:buSzPct val="100000"/>
              <a:buChar char="●"/>
            </a:pPr>
            <a:r>
              <a:rPr lang="en-US" sz="2000" dirty="0">
                <a:solidFill>
                  <a:srgbClr val="434343"/>
                </a:solidFill>
              </a:rPr>
              <a:t>It’s efficient</a:t>
            </a:r>
          </a:p>
          <a:p>
            <a:pPr marL="457200" lvl="0" indent="-355600" rtl="0">
              <a:spcBef>
                <a:spcPts val="0"/>
              </a:spcBef>
              <a:buClr>
                <a:srgbClr val="434343"/>
              </a:buClr>
              <a:buSzPct val="100000"/>
              <a:buChar char="●"/>
            </a:pPr>
            <a:r>
              <a:rPr lang="en-US" sz="2000" dirty="0">
                <a:solidFill>
                  <a:srgbClr val="434343"/>
                </a:solidFill>
              </a:rPr>
              <a:t>It’s well-supported</a:t>
            </a:r>
          </a:p>
          <a:p>
            <a:pPr marL="457200" lvl="0" indent="-355600" rtl="0">
              <a:spcBef>
                <a:spcPts val="0"/>
              </a:spcBef>
              <a:buClr>
                <a:srgbClr val="434343"/>
              </a:buClr>
              <a:buSzPct val="100000"/>
              <a:buChar char="●"/>
            </a:pPr>
            <a:r>
              <a:rPr lang="en-US" sz="2000" dirty="0">
                <a:solidFill>
                  <a:srgbClr val="434343"/>
                </a:solidFill>
              </a:rPr>
              <a:t>It’s idiomatic Haskell</a:t>
            </a:r>
          </a:p>
          <a:p>
            <a:pPr marL="457200" lvl="0" indent="-355600" rtl="0">
              <a:spcBef>
                <a:spcPts val="0"/>
              </a:spcBef>
              <a:buClr>
                <a:srgbClr val="434343"/>
              </a:buClr>
              <a:buSzPct val="100000"/>
              <a:buChar char="●"/>
            </a:pPr>
            <a:r>
              <a:rPr lang="en-US" sz="2000" dirty="0">
                <a:solidFill>
                  <a:srgbClr val="434343"/>
                </a:solidFill>
              </a:rPr>
              <a:t>The default deriving is straightforward to use</a:t>
            </a:r>
          </a:p>
        </p:txBody>
      </p:sp>
    </p:spTree>
    <p:extLst>
      <p:ext uri="{BB962C8B-B14F-4D97-AF65-F5344CB8AC3E}">
        <p14:creationId xmlns:p14="http://schemas.microsoft.com/office/powerpoint/2010/main" val="4127488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Other data types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380</TotalTime>
  <Words>215</Words>
  <Application>Microsoft Office PowerPoint</Application>
  <PresentationFormat>On-screen Show (16:9)</PresentationFormat>
  <Paragraphs>29</Paragraphs>
  <Slides>5</Slides>
  <Notes>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vt:i4>
      </vt:variant>
    </vt:vector>
  </HeadingPairs>
  <TitlesOfParts>
    <vt:vector size="11" baseType="lpstr">
      <vt:lpstr>Arial</vt:lpstr>
      <vt:lpstr>Calibri</vt:lpstr>
      <vt:lpstr>Roboto</vt:lpstr>
      <vt:lpstr>Wingdings</vt:lpstr>
      <vt:lpstr>Packt</vt:lpstr>
      <vt:lpstr>Packt</vt:lpstr>
      <vt:lpstr>Parsing and writing YAML</vt:lpstr>
      <vt:lpstr>In this video, we’re going to take a look at…</vt:lpstr>
      <vt:lpstr>Why YAML?</vt:lpstr>
      <vt:lpstr>Why aeson?</vt:lpstr>
      <vt:lpstr>Next Video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54</cp:revision>
  <dcterms:modified xsi:type="dcterms:W3CDTF">2017-06-25T20:00:11Z</dcterms:modified>
</cp:coreProperties>
</file>