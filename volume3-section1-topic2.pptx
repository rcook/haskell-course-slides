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10"/>
  </p:notesMasterIdLst>
  <p:sldIdLst>
    <p:sldId id="258" r:id="rId3"/>
    <p:sldId id="272" r:id="rId4"/>
    <p:sldId id="273" r:id="rId5"/>
    <p:sldId id="274" r:id="rId6"/>
    <p:sldId id="275" r:id="rId7"/>
    <p:sldId id="276" r:id="rId8"/>
    <p:sldId id="269"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45"/>
    <p:restoredTop sz="77812" autoAdjust="0"/>
  </p:normalViewPr>
  <p:slideViewPr>
    <p:cSldViewPr>
      <p:cViewPr varScale="1">
        <p:scale>
          <a:sx n="81" d="100"/>
          <a:sy n="81" d="100"/>
        </p:scale>
        <p:origin x="786" y="9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71275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24864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521673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376391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19013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a:t>Command-line to-do list</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dirty="0"/>
              <a:t>Simple but useful</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a:t>
            </a:r>
            <a:r>
              <a:rPr lang="en-US" sz="2200"/>
              <a:t>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A simple specification of our application</a:t>
            </a:r>
          </a:p>
          <a:p>
            <a:pPr marL="457200" lvl="0" indent="-355600">
              <a:buClr>
                <a:srgbClr val="434343"/>
              </a:buClr>
              <a:buChar char="●"/>
            </a:pPr>
            <a:r>
              <a:rPr lang="en-US" sz="2000" dirty="0">
                <a:solidFill>
                  <a:srgbClr val="434343"/>
                </a:solidFill>
              </a:rPr>
              <a:t>What types of interaction our program will perform</a:t>
            </a:r>
          </a:p>
          <a:p>
            <a:pPr marL="457200" lvl="0" indent="-355600">
              <a:buClr>
                <a:srgbClr val="434343"/>
              </a:buClr>
              <a:buChar char="●"/>
            </a:pPr>
            <a:r>
              <a:rPr lang="en-US" sz="2000" dirty="0">
                <a:solidFill>
                  <a:srgbClr val="434343"/>
                </a:solidFill>
              </a:rPr>
              <a:t>What types of programming we’ll learn about</a:t>
            </a:r>
          </a:p>
        </p:txBody>
      </p:sp>
    </p:spTree>
    <p:extLst>
      <p:ext uri="{BB962C8B-B14F-4D97-AF65-F5344CB8AC3E}">
        <p14:creationId xmlns:p14="http://schemas.microsoft.com/office/powerpoint/2010/main" val="1274327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Simple command-line to-do list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Will provide command-line help</a:t>
            </a:r>
          </a:p>
          <a:p>
            <a:pPr marL="457200" indent="-355600">
              <a:buClr>
                <a:srgbClr val="434343"/>
              </a:buClr>
              <a:buFont typeface="Calibri"/>
              <a:buChar char="●"/>
            </a:pPr>
            <a:r>
              <a:rPr lang="en-US" sz="2000" dirty="0">
                <a:solidFill>
                  <a:srgbClr val="434343"/>
                </a:solidFill>
              </a:rPr>
              <a:t>Will accept user commands from the command line</a:t>
            </a:r>
          </a:p>
          <a:p>
            <a:pPr marL="457200" lvl="0" indent="-355600">
              <a:buClr>
                <a:srgbClr val="434343"/>
              </a:buClr>
              <a:buChar char="●"/>
            </a:pPr>
            <a:r>
              <a:rPr lang="en-US" sz="2000" dirty="0">
                <a:solidFill>
                  <a:srgbClr val="434343"/>
                </a:solidFill>
              </a:rPr>
              <a:t>Will store a to-do list in YAML format on disc</a:t>
            </a:r>
          </a:p>
          <a:p>
            <a:pPr marL="457200" lvl="0" indent="-355600">
              <a:buClr>
                <a:srgbClr val="434343"/>
              </a:buClr>
              <a:buChar char="●"/>
            </a:pPr>
            <a:r>
              <a:rPr lang="en-US" sz="2000" dirty="0">
                <a:solidFill>
                  <a:srgbClr val="434343"/>
                </a:solidFill>
              </a:rPr>
              <a:t>Will support CRUD-style actions</a:t>
            </a:r>
          </a:p>
        </p:txBody>
      </p:sp>
    </p:spTree>
    <p:extLst>
      <p:ext uri="{BB962C8B-B14F-4D97-AF65-F5344CB8AC3E}">
        <p14:creationId xmlns:p14="http://schemas.microsoft.com/office/powerpoint/2010/main" val="875125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Specification of CRUD-style actions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Display information about application</a:t>
            </a:r>
          </a:p>
          <a:p>
            <a:pPr marL="457200" lvl="0" indent="-355600">
              <a:buClr>
                <a:srgbClr val="434343"/>
              </a:buClr>
              <a:buChar char="●"/>
            </a:pPr>
            <a:r>
              <a:rPr lang="en-US" sz="2000" dirty="0">
                <a:solidFill>
                  <a:srgbClr val="434343"/>
                </a:solidFill>
              </a:rPr>
              <a:t>Initialize storage</a:t>
            </a:r>
          </a:p>
          <a:p>
            <a:pPr marL="457200" lvl="0" indent="-355600">
              <a:buClr>
                <a:srgbClr val="434343"/>
              </a:buClr>
              <a:buChar char="●"/>
            </a:pPr>
            <a:r>
              <a:rPr lang="en-US" sz="2000" dirty="0">
                <a:solidFill>
                  <a:srgbClr val="434343"/>
                </a:solidFill>
              </a:rPr>
              <a:t>List to-do items</a:t>
            </a:r>
          </a:p>
          <a:p>
            <a:pPr marL="457200" lvl="0" indent="-355600">
              <a:buClr>
                <a:srgbClr val="434343"/>
              </a:buClr>
              <a:buChar char="●"/>
            </a:pPr>
            <a:r>
              <a:rPr lang="en-US" sz="2000" dirty="0">
                <a:solidFill>
                  <a:srgbClr val="434343"/>
                </a:solidFill>
              </a:rPr>
              <a:t>Add a to-do item (“C” for create)</a:t>
            </a:r>
          </a:p>
          <a:p>
            <a:pPr marL="457200" lvl="0" indent="-355600">
              <a:buClr>
                <a:srgbClr val="434343"/>
              </a:buClr>
              <a:buChar char="●"/>
            </a:pPr>
            <a:r>
              <a:rPr lang="en-US" sz="2000" dirty="0">
                <a:solidFill>
                  <a:srgbClr val="434343"/>
                </a:solidFill>
              </a:rPr>
              <a:t>Show a do-do item (“R” for retrieve)</a:t>
            </a:r>
          </a:p>
          <a:p>
            <a:pPr marL="457200" lvl="0" indent="-355600">
              <a:buClr>
                <a:srgbClr val="434343"/>
              </a:buClr>
              <a:buChar char="●"/>
            </a:pPr>
            <a:r>
              <a:rPr lang="en-US" sz="2000" dirty="0">
                <a:solidFill>
                  <a:srgbClr val="434343"/>
                </a:solidFill>
              </a:rPr>
              <a:t>Update a to-do item (“U” for update)</a:t>
            </a:r>
          </a:p>
          <a:p>
            <a:pPr marL="457200" lvl="0" indent="-355600">
              <a:buClr>
                <a:srgbClr val="434343"/>
              </a:buClr>
              <a:buChar char="●"/>
            </a:pPr>
            <a:r>
              <a:rPr lang="en-US" sz="2000" dirty="0">
                <a:solidFill>
                  <a:srgbClr val="434343"/>
                </a:solidFill>
              </a:rPr>
              <a:t>Remove a to-do item (“D” for delete)</a:t>
            </a:r>
          </a:p>
          <a:p>
            <a:pPr marL="457200" lvl="0" indent="-355600">
              <a:buClr>
                <a:srgbClr val="434343"/>
              </a:buClr>
              <a:buChar char="●"/>
            </a:pPr>
            <a:endParaRPr lang="en-US" sz="2000" dirty="0">
              <a:solidFill>
                <a:srgbClr val="434343"/>
              </a:solidFill>
            </a:endParaRPr>
          </a:p>
        </p:txBody>
      </p:sp>
    </p:spTree>
    <p:extLst>
      <p:ext uri="{BB962C8B-B14F-4D97-AF65-F5344CB8AC3E}">
        <p14:creationId xmlns:p14="http://schemas.microsoft.com/office/powerpoint/2010/main" val="30214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What we’ll learn</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How to structure a </a:t>
            </a:r>
            <a:r>
              <a:rPr lang="en-US" sz="2000">
                <a:solidFill>
                  <a:srgbClr val="434343"/>
                </a:solidFill>
              </a:rPr>
              <a:t>nontrivial program</a:t>
            </a:r>
            <a:endParaRPr lang="en-US" sz="2000" dirty="0">
              <a:solidFill>
                <a:srgbClr val="434343"/>
              </a:solidFill>
            </a:endParaRPr>
          </a:p>
          <a:p>
            <a:pPr marL="457200" lvl="0" indent="-355600">
              <a:buClr>
                <a:srgbClr val="434343"/>
              </a:buClr>
              <a:buChar char="●"/>
            </a:pPr>
            <a:r>
              <a:rPr lang="en-US" sz="2000" dirty="0">
                <a:solidFill>
                  <a:srgbClr val="434343"/>
                </a:solidFill>
              </a:rPr>
              <a:t>Command-line parsing</a:t>
            </a:r>
          </a:p>
          <a:p>
            <a:pPr marL="457200" lvl="0" indent="-355600">
              <a:buClr>
                <a:srgbClr val="434343"/>
              </a:buClr>
              <a:buChar char="●"/>
            </a:pPr>
            <a:r>
              <a:rPr lang="en-US" sz="2000" dirty="0">
                <a:solidFill>
                  <a:srgbClr val="434343"/>
                </a:solidFill>
              </a:rPr>
              <a:t>File name/directory handling</a:t>
            </a:r>
          </a:p>
          <a:p>
            <a:pPr marL="457200" lvl="0" indent="-355600">
              <a:buClr>
                <a:srgbClr val="434343"/>
              </a:buClr>
              <a:buChar char="●"/>
            </a:pPr>
            <a:r>
              <a:rPr lang="en-US" sz="2000" dirty="0">
                <a:solidFill>
                  <a:srgbClr val="434343"/>
                </a:solidFill>
              </a:rPr>
              <a:t>Date/time handling</a:t>
            </a:r>
          </a:p>
          <a:p>
            <a:pPr marL="457200" lvl="0" indent="-355600">
              <a:buClr>
                <a:srgbClr val="434343"/>
              </a:buClr>
              <a:buChar char="●"/>
            </a:pPr>
            <a:r>
              <a:rPr lang="en-US" sz="2000" dirty="0">
                <a:solidFill>
                  <a:srgbClr val="434343"/>
                </a:solidFill>
              </a:rPr>
              <a:t>Writing to the terminal</a:t>
            </a:r>
          </a:p>
          <a:p>
            <a:pPr marL="457200" lvl="0" indent="-355600">
              <a:buClr>
                <a:srgbClr val="434343"/>
              </a:buClr>
              <a:buChar char="●"/>
            </a:pPr>
            <a:r>
              <a:rPr lang="en-US" sz="2000" dirty="0">
                <a:solidFill>
                  <a:srgbClr val="434343"/>
                </a:solidFill>
              </a:rPr>
              <a:t>File I/O</a:t>
            </a:r>
          </a:p>
          <a:p>
            <a:pPr marL="457200" lvl="0" indent="-355600">
              <a:buClr>
                <a:srgbClr val="434343"/>
              </a:buClr>
              <a:buChar char="●"/>
            </a:pPr>
            <a:r>
              <a:rPr lang="en-US" sz="2000" dirty="0">
                <a:solidFill>
                  <a:srgbClr val="434343"/>
                </a:solidFill>
              </a:rPr>
              <a:t>Manipulation of lists and strings</a:t>
            </a:r>
          </a:p>
        </p:txBody>
      </p:sp>
    </p:spTree>
    <p:extLst>
      <p:ext uri="{BB962C8B-B14F-4D97-AF65-F5344CB8AC3E}">
        <p14:creationId xmlns:p14="http://schemas.microsoft.com/office/powerpoint/2010/main" val="69146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rtl="0">
              <a:spcBef>
                <a:spcPts val="0"/>
              </a:spcBef>
              <a:buNone/>
            </a:pPr>
            <a:r>
              <a:rPr lang="en-US" sz="2200" dirty="0"/>
              <a:t>In this section, we looked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a:buClr>
                <a:srgbClr val="434343"/>
              </a:buClr>
              <a:buChar char="●"/>
            </a:pPr>
            <a:r>
              <a:rPr lang="en-US" sz="2000" dirty="0">
                <a:solidFill>
                  <a:srgbClr val="434343"/>
                </a:solidFill>
              </a:rPr>
              <a:t>The structure of real programs</a:t>
            </a:r>
          </a:p>
          <a:p>
            <a:pPr marL="457200" lvl="0" indent="-355600">
              <a:buClr>
                <a:srgbClr val="434343"/>
              </a:buClr>
              <a:buChar char="●"/>
            </a:pPr>
            <a:r>
              <a:rPr lang="en-US" sz="2000" dirty="0">
                <a:solidFill>
                  <a:srgbClr val="434343"/>
                </a:solidFill>
              </a:rPr>
              <a:t>The kind of application we </a:t>
            </a:r>
            <a:r>
              <a:rPr lang="en-US" sz="2000">
                <a:solidFill>
                  <a:srgbClr val="434343"/>
                </a:solidFill>
              </a:rPr>
              <a:t>will develop in this course</a:t>
            </a:r>
            <a:endParaRPr lang="en-US" sz="2000" dirty="0">
              <a:solidFill>
                <a:srgbClr val="434343"/>
              </a:solidFill>
            </a:endParaRPr>
          </a:p>
        </p:txBody>
      </p:sp>
    </p:spTree>
    <p:extLst>
      <p:ext uri="{BB962C8B-B14F-4D97-AF65-F5344CB8AC3E}">
        <p14:creationId xmlns:p14="http://schemas.microsoft.com/office/powerpoint/2010/main" val="683265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a:t>Next Section</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rtl="0">
              <a:spcBef>
                <a:spcPts val="0"/>
              </a:spcBef>
              <a:buNone/>
            </a:pPr>
            <a:r>
              <a:rPr lang="en-US"/>
              <a:t>The command line</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360</Words>
  <Application>Microsoft Office PowerPoint</Application>
  <PresentationFormat>On-screen Show (16:9)</PresentationFormat>
  <Paragraphs>41</Paragraphs>
  <Slides>7</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Arial</vt:lpstr>
      <vt:lpstr>Calibri</vt:lpstr>
      <vt:lpstr>Roboto</vt:lpstr>
      <vt:lpstr>Wingdings</vt:lpstr>
      <vt:lpstr>Packt</vt:lpstr>
      <vt:lpstr>Packt</vt:lpstr>
      <vt:lpstr>Command-line to-do list</vt:lpstr>
      <vt:lpstr>In this video, we’re going to take a look at…</vt:lpstr>
      <vt:lpstr>Simple command-line to-do list</vt:lpstr>
      <vt:lpstr>Specification of CRUD-style actions</vt:lpstr>
      <vt:lpstr>What we’ll learn</vt:lpstr>
      <vt:lpstr>In this section, we looked at…</vt:lpstr>
      <vt:lpstr>Next Section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67</cp:revision>
  <dcterms:modified xsi:type="dcterms:W3CDTF">2017-08-02T04:09:39Z</dcterms:modified>
</cp:coreProperties>
</file>