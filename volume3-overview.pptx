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0" r:id="rId1"/>
  </p:sldMasterIdLst>
  <p:notesMasterIdLst>
    <p:notesMasterId r:id="rId9"/>
  </p:notesMasterIdLst>
  <p:sldIdLst>
    <p:sldId id="278" r:id="rId2"/>
    <p:sldId id="279" r:id="rId3"/>
    <p:sldId id="280" r:id="rId4"/>
    <p:sldId id="275" r:id="rId5"/>
    <p:sldId id="276" r:id="rId6"/>
    <p:sldId id="277" r:id="rId7"/>
    <p:sldId id="281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220494-F72E-42EC-8C15-EB342598EB4E}">
  <a:tblStyle styleId="{62220494-F72E-42EC-8C15-EB342598EB4E}" styleName="Table_0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22"/>
    <p:restoredTop sz="77812" autoAdjust="0"/>
  </p:normalViewPr>
  <p:slideViewPr>
    <p:cSldViewPr>
      <p:cViewPr>
        <p:scale>
          <a:sx n="110" d="100"/>
          <a:sy n="110" d="100"/>
        </p:scale>
        <p:origin x="816" y="-28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96012F-7B2C-9F49-8090-235790DC79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38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96012F-7B2C-9F49-8090-235790DC79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503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96012F-7B2C-9F49-8090-235790DC79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71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urse 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90525" y="2803825"/>
            <a:ext cx="8222100" cy="5733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None/>
              <a:defRPr sz="2600"/>
            </a:lvl1pPr>
            <a:lvl2pPr lvl="1" rtl="0">
              <a:spcBef>
                <a:spcPts val="0"/>
              </a:spcBef>
              <a:buNone/>
              <a:defRPr/>
            </a:lvl2pPr>
            <a:lvl3pPr lvl="2" rtl="0">
              <a:spcBef>
                <a:spcPts val="0"/>
              </a:spcBef>
              <a:buNone/>
              <a:defRPr/>
            </a:lvl3pPr>
            <a:lvl4pPr lvl="3" rtl="0">
              <a:spcBef>
                <a:spcPts val="0"/>
              </a:spcBef>
              <a:buNone/>
              <a:defRPr/>
            </a:lvl4pPr>
            <a:lvl5pPr lvl="4" rtl="0">
              <a:spcBef>
                <a:spcPts val="0"/>
              </a:spcBef>
              <a:buNone/>
              <a:defRPr/>
            </a:lvl5pPr>
            <a:lvl6pPr lvl="5" rtl="0">
              <a:spcBef>
                <a:spcPts val="0"/>
              </a:spcBef>
              <a:buNone/>
              <a:defRPr/>
            </a:lvl6pPr>
            <a:lvl7pPr lvl="6" rtl="0">
              <a:spcBef>
                <a:spcPts val="0"/>
              </a:spcBef>
              <a:buNone/>
              <a:defRPr/>
            </a:lvl7pPr>
            <a:lvl8pPr lvl="7" rtl="0">
              <a:spcBef>
                <a:spcPts val="0"/>
              </a:spcBef>
              <a:buNone/>
              <a:defRPr/>
            </a:lvl8pPr>
            <a:lvl9pPr lvl="8" rtl="0">
              <a:spcBef>
                <a:spcPts val="0"/>
              </a:spcBef>
              <a:buNone/>
              <a:defRPr/>
            </a:lvl9pPr>
          </a:lstStyle>
          <a:p>
            <a:endParaRPr/>
          </a:p>
        </p:txBody>
      </p:sp>
      <p:pic>
        <p:nvPicPr>
          <p:cNvPr id="11" name="Shape 11" descr="Packt-Logo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750" y="1477730"/>
            <a:ext cx="3382881" cy="1616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tandalone Introduction or Summar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SzPct val="100000"/>
              <a:defRPr sz="4200"/>
            </a:lvl1pPr>
            <a:lvl2pPr lvl="1" rtl="0">
              <a:spcBef>
                <a:spcPts val="0"/>
              </a:spcBef>
              <a:buSzPct val="100000"/>
              <a:defRPr sz="4200"/>
            </a:lvl2pPr>
            <a:lvl3pPr lvl="2" rtl="0">
              <a:spcBef>
                <a:spcPts val="0"/>
              </a:spcBef>
              <a:buSzPct val="100000"/>
              <a:defRPr sz="4200"/>
            </a:lvl3pPr>
            <a:lvl4pPr lvl="3" rtl="0">
              <a:spcBef>
                <a:spcPts val="0"/>
              </a:spcBef>
              <a:buSzPct val="100000"/>
              <a:defRPr sz="4200"/>
            </a:lvl4pPr>
            <a:lvl5pPr lvl="4" rtl="0">
              <a:spcBef>
                <a:spcPts val="0"/>
              </a:spcBef>
              <a:buSzPct val="100000"/>
              <a:defRPr sz="4200"/>
            </a:lvl5pPr>
            <a:lvl6pPr lvl="5" rtl="0">
              <a:spcBef>
                <a:spcPts val="0"/>
              </a:spcBef>
              <a:buSzPct val="100000"/>
              <a:defRPr sz="4200"/>
            </a:lvl6pPr>
            <a:lvl7pPr lvl="6" rtl="0">
              <a:spcBef>
                <a:spcPts val="0"/>
              </a:spcBef>
              <a:buSzPct val="100000"/>
              <a:defRPr sz="4200"/>
            </a:lvl7pPr>
            <a:lvl8pPr lvl="7" rtl="0">
              <a:spcBef>
                <a:spcPts val="0"/>
              </a:spcBef>
              <a:buSzPct val="100000"/>
              <a:defRPr sz="4200"/>
            </a:lvl8pPr>
            <a:lvl9pPr lvl="8" rtl="0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pic>
        <p:nvPicPr>
          <p:cNvPr id="18" name="Shape 18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" name="Shape 21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4" name="Shape 24" descr="icon-beacon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" name="Shape 2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1" name="Shape 31" descr="icon-beacon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" name="Shape 34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SzPct val="100000"/>
              <a:defRPr sz="2000"/>
            </a:lvl1pPr>
            <a:lvl2pPr lvl="1" rtl="0">
              <a:spcBef>
                <a:spcPts val="0"/>
              </a:spcBef>
              <a:buSzPct val="100000"/>
              <a:defRPr sz="1800"/>
            </a:lvl2pPr>
            <a:lvl3pPr lvl="2" rtl="0">
              <a:spcBef>
                <a:spcPts val="0"/>
              </a:spcBef>
              <a:buSzPct val="100000"/>
              <a:defRPr sz="1800"/>
            </a:lvl3pPr>
            <a:lvl4pPr lvl="3" rtl="0">
              <a:spcBef>
                <a:spcPts val="0"/>
              </a:spcBef>
              <a:buSzPct val="100000"/>
              <a:defRPr sz="1800"/>
            </a:lvl4pPr>
            <a:lvl5pPr lvl="4" rtl="0">
              <a:spcBef>
                <a:spcPts val="0"/>
              </a:spcBef>
              <a:buSzPct val="100000"/>
              <a:defRPr sz="1800"/>
            </a:lvl5pPr>
            <a:lvl6pPr lvl="5" rtl="0">
              <a:spcBef>
                <a:spcPts val="0"/>
              </a:spcBef>
              <a:buSzPct val="100000"/>
              <a:defRPr sz="1800"/>
            </a:lvl6pPr>
            <a:lvl7pPr lvl="6" rtl="0">
              <a:spcBef>
                <a:spcPts val="0"/>
              </a:spcBef>
              <a:buSzPct val="100000"/>
              <a:defRPr sz="1800"/>
            </a:lvl7pPr>
            <a:lvl8pPr lvl="7" rtl="0">
              <a:spcBef>
                <a:spcPts val="0"/>
              </a:spcBef>
              <a:buSzPct val="100000"/>
              <a:defRPr sz="1800"/>
            </a:lvl8pPr>
            <a:lvl9pPr lvl="8" rtl="0">
              <a:spcBef>
                <a:spcPts val="0"/>
              </a:spcBef>
              <a:buSzPct val="100000"/>
              <a:defRPr sz="1800"/>
            </a:lvl9pPr>
          </a:lstStyle>
          <a:p>
            <a:endParaRPr/>
          </a:p>
        </p:txBody>
      </p:sp>
      <p:pic>
        <p:nvPicPr>
          <p:cNvPr id="36" name="Shape 36" descr="icon-beacon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" name="Shape 3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226077" y="357800"/>
            <a:ext cx="2808000" cy="953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SzPct val="100000"/>
              <a:defRPr sz="2400"/>
            </a:lvl1pPr>
            <a:lvl2pPr lvl="1" rtl="0">
              <a:spcBef>
                <a:spcPts val="0"/>
              </a:spcBef>
              <a:buSzPct val="100000"/>
              <a:defRPr sz="2400"/>
            </a:lvl2pPr>
            <a:lvl3pPr lvl="2" rtl="0">
              <a:spcBef>
                <a:spcPts val="0"/>
              </a:spcBef>
              <a:buSzPct val="100000"/>
              <a:defRPr sz="2400"/>
            </a:lvl3pPr>
            <a:lvl4pPr lvl="3" rtl="0">
              <a:spcBef>
                <a:spcPts val="0"/>
              </a:spcBef>
              <a:buSzPct val="100000"/>
              <a:defRPr sz="2400"/>
            </a:lvl4pPr>
            <a:lvl5pPr lvl="4" rtl="0">
              <a:spcBef>
                <a:spcPts val="0"/>
              </a:spcBef>
              <a:buSzPct val="100000"/>
              <a:defRPr sz="2400"/>
            </a:lvl5pPr>
            <a:lvl6pPr lvl="5" rtl="0">
              <a:spcBef>
                <a:spcPts val="0"/>
              </a:spcBef>
              <a:buSzPct val="100000"/>
              <a:defRPr sz="2400"/>
            </a:lvl6pPr>
            <a:lvl7pPr lvl="6" rtl="0">
              <a:spcBef>
                <a:spcPts val="0"/>
              </a:spcBef>
              <a:buSzPct val="100000"/>
              <a:defRPr sz="2400"/>
            </a:lvl7pPr>
            <a:lvl8pPr lvl="7" rtl="0">
              <a:spcBef>
                <a:spcPts val="0"/>
              </a:spcBef>
              <a:buSzPct val="100000"/>
              <a:defRPr sz="2400"/>
            </a:lvl8pPr>
            <a:lvl9pPr lvl="8" rtl="0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lt1"/>
              </a:buClr>
              <a:buFont typeface="Calibri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buClr>
                <a:schemeClr val="lt1"/>
              </a:buClr>
              <a:buFont typeface="Calibri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2" name="Shape 42" descr="icon-beacon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8034000" cy="4090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SzPct val="100000"/>
              <a:defRPr sz="6000"/>
            </a:lvl1pPr>
            <a:lvl2pPr lvl="1" rtl="0">
              <a:spcBef>
                <a:spcPts val="0"/>
              </a:spcBef>
              <a:buSzPct val="100000"/>
              <a:defRPr sz="6000"/>
            </a:lvl2pPr>
            <a:lvl3pPr lvl="2" rtl="0">
              <a:spcBef>
                <a:spcPts val="0"/>
              </a:spcBef>
              <a:buSzPct val="100000"/>
              <a:defRPr sz="6000"/>
            </a:lvl3pPr>
            <a:lvl4pPr lvl="3" rtl="0">
              <a:spcBef>
                <a:spcPts val="0"/>
              </a:spcBef>
              <a:buSzPct val="100000"/>
              <a:defRPr sz="6000"/>
            </a:lvl4pPr>
            <a:lvl5pPr lvl="4" rtl="0">
              <a:spcBef>
                <a:spcPts val="0"/>
              </a:spcBef>
              <a:buSzPct val="100000"/>
              <a:defRPr sz="6000"/>
            </a:lvl5pPr>
            <a:lvl6pPr lvl="5" rtl="0">
              <a:spcBef>
                <a:spcPts val="0"/>
              </a:spcBef>
              <a:buSzPct val="100000"/>
              <a:defRPr sz="6000"/>
            </a:lvl6pPr>
            <a:lvl7pPr lvl="6" rtl="0">
              <a:spcBef>
                <a:spcPts val="0"/>
              </a:spcBef>
              <a:buSzPct val="100000"/>
              <a:defRPr sz="6000"/>
            </a:lvl7pPr>
            <a:lvl8pPr lvl="7" rtl="0">
              <a:spcBef>
                <a:spcPts val="0"/>
              </a:spcBef>
              <a:buSzPct val="100000"/>
              <a:defRPr sz="6000"/>
            </a:lvl8pPr>
            <a:lvl9pPr lvl="8" rtl="0">
              <a:spcBef>
                <a:spcPts val="0"/>
              </a:spcBef>
              <a:buSzPct val="100000"/>
              <a:defRPr sz="6000"/>
            </a:lvl9pPr>
          </a:lstStyle>
          <a:p>
            <a:endParaRPr/>
          </a:p>
        </p:txBody>
      </p:sp>
      <p:pic>
        <p:nvPicPr>
          <p:cNvPr id="45" name="Shape 45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plit Summar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8" name="Shape 48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Clr>
                <a:srgbClr val="434343"/>
              </a:buClr>
              <a:buSzPct val="100000"/>
              <a:defRPr sz="4200">
                <a:solidFill>
                  <a:srgbClr val="434343"/>
                </a:solidFill>
              </a:defRPr>
            </a:lvl1pPr>
            <a:lvl2pPr lvl="1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subTitle" idx="1"/>
          </p:nvPr>
        </p:nvSpPr>
        <p:spPr>
          <a:xfrm>
            <a:off x="265500" y="2779466"/>
            <a:ext cx="4045200" cy="12350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None/>
              <a:defRPr sz="2100">
                <a:latin typeface="Calibri"/>
                <a:ea typeface="Calibri"/>
                <a:cs typeface="Calibri"/>
                <a:sym typeface="Calibr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buClr>
                <a:schemeClr val="lt1"/>
              </a:buClr>
              <a:buSzPct val="100000"/>
              <a:defRPr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52" name="Shape 52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uthor Profi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5" name="Shape 55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265500" y="3387625"/>
            <a:ext cx="4045200" cy="14823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4285F4"/>
              </a:buClr>
              <a:buSzPct val="100000"/>
              <a:defRPr sz="2400">
                <a:solidFill>
                  <a:srgbClr val="4285F4"/>
                </a:solidFill>
              </a:defRPr>
            </a:lvl1pPr>
            <a:lvl2pPr lvl="1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buClr>
                <a:schemeClr val="lt1"/>
              </a:buClr>
              <a:buSzPct val="100000"/>
              <a:defRPr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58" name="Shape 58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6" t="11512" r="30021" b="15401"/>
          <a:stretch/>
        </p:blipFill>
        <p:spPr>
          <a:xfrm rot="16200000">
            <a:off x="699206" y="277763"/>
            <a:ext cx="3065164" cy="2819400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2" name="Shape 62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460950" y="1248300"/>
            <a:ext cx="8222100" cy="1963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Clr>
                <a:srgbClr val="F3F3F3"/>
              </a:buClr>
              <a:buSzPct val="100000"/>
              <a:defRPr sz="12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1595400" y="3273925"/>
            <a:ext cx="5953200" cy="1300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7" name="Shape 67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Shape 69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End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4570050" y="564750"/>
            <a:ext cx="4106100" cy="40140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pic>
        <p:nvPicPr>
          <p:cNvPr id="72" name="Shape 72" descr="Packt-Logo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750" y="1763405"/>
            <a:ext cx="3382881" cy="1616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Assembly)">
    <p:bg>
      <p:bgPr>
        <a:solidFill>
          <a:srgbClr val="3E5DAA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Shape 74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Classic)">
    <p:bg>
      <p:bgPr>
        <a:solidFill>
          <a:srgbClr val="333333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Shape 76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Ruby)">
    <p:bg>
      <p:bgPr>
        <a:solidFill>
          <a:srgbClr val="EE2D4A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Shape 78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Field)">
    <p:bg>
      <p:bgPr>
        <a:solidFill>
          <a:srgbClr val="00A349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Shape 80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Evolve)">
    <p:bg>
      <p:bgPr>
        <a:solidFill>
          <a:srgbClr val="29BEC6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Shape 82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Hack)">
    <p:bg>
      <p:bgPr>
        <a:solidFill>
          <a:srgbClr val="4C389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Shape 84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Sprint)">
    <p:bg>
      <p:bgPr>
        <a:solidFill>
          <a:srgbClr val="BE1A8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Shape 86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1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7/19/17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36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702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buNone/>
              <a:defRPr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SzPct val="100000"/>
              <a:buFont typeface="Calibri"/>
              <a:def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pPr lvl="0" algn="r" rtl="0">
                <a:spcBef>
                  <a:spcPts val="0"/>
                </a:spcBef>
                <a:buNone/>
              </a:pPr>
              <a:t>‹#›</a:t>
            </a:fld>
            <a:endParaRPr lang="en"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94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an Application with Haskell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493101" y="3409950"/>
            <a:ext cx="1269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Richard Cook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95300" y="3377125"/>
            <a:ext cx="8153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92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5500" y="3181350"/>
            <a:ext cx="4045200" cy="1688575"/>
          </a:xfrm>
        </p:spPr>
        <p:txBody>
          <a:bodyPr/>
          <a:lstStyle/>
          <a:p>
            <a:r>
              <a:rPr lang="en-US" dirty="0"/>
              <a:t>About </a:t>
            </a:r>
            <a:r>
              <a:rPr lang="en-US"/>
              <a:t>the author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charset="0"/>
              <a:buChar char="•"/>
            </a:pPr>
            <a:r>
              <a:rPr lang="en-US" dirty="0"/>
              <a:t>Seventeen years’ software development experience</a:t>
            </a:r>
          </a:p>
          <a:p>
            <a:pPr marL="342900" indent="-342900">
              <a:buFont typeface="Arial" charset="0"/>
              <a:buChar char="•"/>
            </a:pPr>
            <a:r>
              <a:rPr lang="en-US" dirty="0"/>
              <a:t>Organizer of Seattle Area Haskell Users’ Group</a:t>
            </a:r>
          </a:p>
          <a:p>
            <a:pPr marL="342900" indent="-342900">
              <a:buFont typeface="Arial" charset="0"/>
              <a:buChar char="•"/>
            </a:pPr>
            <a:r>
              <a:rPr lang="en-US" dirty="0"/>
              <a:t>Open-source contributor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32001" y="3777645"/>
            <a:ext cx="1151942" cy="351130"/>
            <a:chOff x="219456" y="5963514"/>
            <a:chExt cx="1535923" cy="468173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56" y="5963514"/>
              <a:ext cx="468173" cy="46817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758952" y="6012934"/>
              <a:ext cx="9964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 err="1">
                  <a:latin typeface="Arial" charset="0"/>
                  <a:ea typeface="Arial" charset="0"/>
                  <a:cs typeface="Arial" charset="0"/>
                </a:rPr>
                <a:t>rcook.org</a:t>
              </a:r>
              <a:endParaRPr lang="en-US" sz="105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32001" y="4172658"/>
            <a:ext cx="1616813" cy="337625"/>
            <a:chOff x="219456" y="5972517"/>
            <a:chExt cx="2155751" cy="450166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56" y="5972517"/>
              <a:ext cx="450166" cy="450166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758952" y="6012934"/>
              <a:ext cx="16162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 err="1">
                  <a:latin typeface="Arial" charset="0"/>
                  <a:ea typeface="Arial" charset="0"/>
                  <a:cs typeface="Arial" charset="0"/>
                </a:rPr>
                <a:t>github.com</a:t>
              </a:r>
              <a:r>
                <a:rPr lang="en-US" sz="1050" dirty="0">
                  <a:latin typeface="Arial" charset="0"/>
                  <a:ea typeface="Arial" charset="0"/>
                  <a:cs typeface="Arial" charset="0"/>
                </a:rPr>
                <a:t>/</a:t>
              </a:r>
              <a:r>
                <a:rPr lang="en-US" sz="1050" dirty="0" err="1">
                  <a:latin typeface="Arial" charset="0"/>
                  <a:ea typeface="Arial" charset="0"/>
                  <a:cs typeface="Arial" charset="0"/>
                </a:rPr>
                <a:t>rcook</a:t>
              </a:r>
              <a:endParaRPr lang="en-US" sz="105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32001" y="4554166"/>
            <a:ext cx="1695360" cy="337625"/>
            <a:chOff x="219456" y="5972517"/>
            <a:chExt cx="2260479" cy="450166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56" y="5972517"/>
              <a:ext cx="450166" cy="450166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758952" y="6012934"/>
              <a:ext cx="17209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Arial" charset="0"/>
                  <a:ea typeface="Arial" charset="0"/>
                  <a:cs typeface="Arial" charset="0"/>
                </a:rPr>
                <a:t>@</a:t>
              </a:r>
              <a:r>
                <a:rPr lang="en-US" sz="1050" dirty="0" err="1">
                  <a:latin typeface="Arial" charset="0"/>
                  <a:ea typeface="Arial" charset="0"/>
                  <a:cs typeface="Arial" charset="0"/>
                </a:rPr>
                <a:t>richardthepeace</a:t>
              </a:r>
              <a:endParaRPr lang="en-US" sz="105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30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</p:spTree>
    <p:extLst>
      <p:ext uri="{BB962C8B-B14F-4D97-AF65-F5344CB8AC3E}">
        <p14:creationId xmlns:p14="http://schemas.microsoft.com/office/powerpoint/2010/main" val="42891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17" y="583025"/>
            <a:ext cx="9142766" cy="461522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45706" tIns="22853" rIns="45706" bIns="22853">
            <a:spAutoFit/>
          </a:bodyPr>
          <a:lstStyle/>
          <a:p>
            <a:pPr algn="ctr" defTabSz="816201">
              <a:defRPr/>
            </a:pPr>
            <a:r>
              <a:rPr lang="en-US" sz="2699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Outline</a:t>
            </a:r>
          </a:p>
        </p:txBody>
      </p:sp>
      <p:sp>
        <p:nvSpPr>
          <p:cNvPr id="29" name="Oval 28"/>
          <p:cNvSpPr>
            <a:spLocks noChangeAspect="1"/>
          </p:cNvSpPr>
          <p:nvPr/>
        </p:nvSpPr>
        <p:spPr>
          <a:xfrm>
            <a:off x="755086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What real programs do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49" name="Oval 48"/>
          <p:cNvSpPr>
            <a:spLocks noChangeAspect="1"/>
          </p:cNvSpPr>
          <p:nvPr/>
        </p:nvSpPr>
        <p:spPr>
          <a:xfrm>
            <a:off x="1444494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Command-line to-do list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50" name="Oval 49"/>
          <p:cNvSpPr>
            <a:spLocks noChangeAspect="1"/>
          </p:cNvSpPr>
          <p:nvPr/>
        </p:nvSpPr>
        <p:spPr>
          <a:xfrm>
            <a:off x="2591103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The Applicative Way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54" name="Oval 53"/>
          <p:cNvSpPr>
            <a:spLocks noChangeAspect="1"/>
          </p:cNvSpPr>
          <p:nvPr/>
        </p:nvSpPr>
        <p:spPr>
          <a:xfrm>
            <a:off x="3280512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ADTs for command-line options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55" name="Oval 54"/>
          <p:cNvSpPr>
            <a:spLocks noChangeAspect="1"/>
          </p:cNvSpPr>
          <p:nvPr/>
        </p:nvSpPr>
        <p:spPr>
          <a:xfrm>
            <a:off x="3969920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err="1" smtClean="0">
                <a:solidFill>
                  <a:schemeClr val="bg2"/>
                </a:solidFill>
              </a:rPr>
              <a:t>Subparsers</a:t>
            </a:r>
            <a:r>
              <a:rPr lang="en-US" sz="750" dirty="0" smtClean="0">
                <a:solidFill>
                  <a:schemeClr val="bg2"/>
                </a:solidFill>
              </a:rPr>
              <a:t> and wrapping up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56" name="Oval 55"/>
          <p:cNvSpPr>
            <a:spLocks noChangeAspect="1"/>
          </p:cNvSpPr>
          <p:nvPr/>
        </p:nvSpPr>
        <p:spPr>
          <a:xfrm>
            <a:off x="5116528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File I/O and laziness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57" name="Oval 56"/>
          <p:cNvSpPr>
            <a:spLocks noChangeAspect="1"/>
          </p:cNvSpPr>
          <p:nvPr/>
        </p:nvSpPr>
        <p:spPr>
          <a:xfrm>
            <a:off x="5805936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Strings revisited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59" name="Oval 58"/>
          <p:cNvSpPr>
            <a:spLocks noChangeAspect="1"/>
          </p:cNvSpPr>
          <p:nvPr/>
        </p:nvSpPr>
        <p:spPr>
          <a:xfrm>
            <a:off x="6495345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Parsing and writing YAML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60" name="Oval 59"/>
          <p:cNvSpPr>
            <a:spLocks noChangeAspect="1"/>
          </p:cNvSpPr>
          <p:nvPr/>
        </p:nvSpPr>
        <p:spPr>
          <a:xfrm>
            <a:off x="7184753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Other data types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2137" y="2261847"/>
            <a:ext cx="2042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Simple but useful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667000" y="2261847"/>
            <a:ext cx="2068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The command line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952495" y="2261847"/>
            <a:ext cx="327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Storing data on the file system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8" name="Oval 17"/>
          <p:cNvSpPr>
            <a:spLocks noChangeAspect="1"/>
          </p:cNvSpPr>
          <p:nvPr/>
        </p:nvSpPr>
        <p:spPr>
          <a:xfrm>
            <a:off x="2355286" y="2864745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Reading items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19" name="Oval 18"/>
          <p:cNvSpPr>
            <a:spLocks noChangeAspect="1"/>
          </p:cNvSpPr>
          <p:nvPr/>
        </p:nvSpPr>
        <p:spPr>
          <a:xfrm>
            <a:off x="3044694" y="2864745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Creating items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20" name="Oval 19"/>
          <p:cNvSpPr>
            <a:spLocks noChangeAspect="1"/>
          </p:cNvSpPr>
          <p:nvPr/>
        </p:nvSpPr>
        <p:spPr>
          <a:xfrm>
            <a:off x="3734102" y="2864745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Deleting items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21" name="Oval 20"/>
          <p:cNvSpPr>
            <a:spLocks noChangeAspect="1"/>
          </p:cNvSpPr>
          <p:nvPr/>
        </p:nvSpPr>
        <p:spPr>
          <a:xfrm>
            <a:off x="4423511" y="2864745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Updating items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22" name="Oval 21"/>
          <p:cNvSpPr>
            <a:spLocks noChangeAspect="1"/>
          </p:cNvSpPr>
          <p:nvPr/>
        </p:nvSpPr>
        <p:spPr>
          <a:xfrm>
            <a:off x="5112919" y="2864745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Displaying our to-do list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23" name="Oval 22"/>
          <p:cNvSpPr>
            <a:spLocks noChangeAspect="1"/>
          </p:cNvSpPr>
          <p:nvPr/>
        </p:nvSpPr>
        <p:spPr>
          <a:xfrm>
            <a:off x="5802327" y="2864745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Other commands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24" name="Oval 23"/>
          <p:cNvSpPr>
            <a:spLocks noChangeAspect="1"/>
          </p:cNvSpPr>
          <p:nvPr/>
        </p:nvSpPr>
        <p:spPr>
          <a:xfrm>
            <a:off x="6945831" y="2864745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Building on our example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25" name="Oval 24"/>
          <p:cNvSpPr>
            <a:spLocks noChangeAspect="1"/>
          </p:cNvSpPr>
          <p:nvPr/>
        </p:nvSpPr>
        <p:spPr>
          <a:xfrm>
            <a:off x="7635240" y="2864745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 smtClean="0">
                <a:solidFill>
                  <a:schemeClr val="bg2"/>
                </a:solidFill>
              </a:rPr>
              <a:t>Wrapping up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124200" y="3921271"/>
            <a:ext cx="2731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Interacting with our data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31095" y="3921271"/>
            <a:ext cx="1524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Conclusions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48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D3D2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D3D2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F0C8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F0C8"/>
                                      </p:to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F0C8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3D4F4"/>
                                      </p:to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C8F0"/>
                                      </p:to>
                                    </p:animClr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C8F0"/>
                                      </p:to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C8F0"/>
                                      </p:to>
                                    </p:animClr>
                                    <p:set>
                                      <p:cBhvr>
                                        <p:cTn id="10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0A8A8"/>
                                      </p:to>
                                    </p:animClr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0A8A8"/>
                                      </p:to>
                                    </p:animClr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0A8A8"/>
                                      </p:to>
                                    </p:animClr>
                                    <p:set>
                                      <p:cBhvr>
                                        <p:cTn id="1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0A8A8"/>
                                      </p:to>
                                    </p:animClr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0A8A8"/>
                                      </p:to>
                                    </p:animClr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0A8A8"/>
                                      </p:to>
                                    </p:animClr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8E0A8"/>
                                      </p:to>
                                    </p:animClr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8E0A8"/>
                                      </p:to>
                                    </p:animClr>
                                    <p:set>
                                      <p:cBhvr>
                                        <p:cTn id="1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1" dur="500" fill="hold"/>
                                        <p:tgtEl>
                                          <p:spTgt spid="29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2" dur="500" fill="hold"/>
                                        <p:tgtEl>
                                          <p:spTgt spid="29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5" dur="500" fill="hold"/>
                                        <p:tgtEl>
                                          <p:spTgt spid="49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000"/>
                            </p:stCondLst>
                            <p:childTnLst>
                              <p:par>
                                <p:cTn id="217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6" dur="500" fill="hold"/>
                                        <p:tgtEl>
                                          <p:spTgt spid="49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00"/>
                            </p:stCondLst>
                            <p:childTnLst>
                              <p:par>
                                <p:cTn id="228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9" dur="500" fill="hold"/>
                                        <p:tgtEl>
                                          <p:spTgt spid="50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1000"/>
                            </p:stCondLst>
                            <p:childTnLst>
                              <p:par>
                                <p:cTn id="231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0" dur="500" fill="hold"/>
                                        <p:tgtEl>
                                          <p:spTgt spid="50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500"/>
                            </p:stCondLst>
                            <p:childTnLst>
                              <p:par>
                                <p:cTn id="242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3" dur="500" fill="hold"/>
                                        <p:tgtEl>
                                          <p:spTgt spid="54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000"/>
                            </p:stCondLst>
                            <p:childTnLst>
                              <p:par>
                                <p:cTn id="245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4" dur="500" fill="hold"/>
                                        <p:tgtEl>
                                          <p:spTgt spid="54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7" dur="500" fill="hold"/>
                                        <p:tgtEl>
                                          <p:spTgt spid="5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1000"/>
                            </p:stCondLst>
                            <p:childTnLst>
                              <p:par>
                                <p:cTn id="259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8" dur="500" fill="hold"/>
                                        <p:tgtEl>
                                          <p:spTgt spid="55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500"/>
                            </p:stCondLst>
                            <p:childTnLst>
                              <p:par>
                                <p:cTn id="270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1" dur="500" fill="hold"/>
                                        <p:tgtEl>
                                          <p:spTgt spid="5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1000"/>
                            </p:stCondLst>
                            <p:childTnLst>
                              <p:par>
                                <p:cTn id="273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2" dur="500" fill="hold"/>
                                        <p:tgtEl>
                                          <p:spTgt spid="56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500"/>
                            </p:stCondLst>
                            <p:childTnLst>
                              <p:par>
                                <p:cTn id="284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5" dur="500" fill="hold"/>
                                        <p:tgtEl>
                                          <p:spTgt spid="57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1000"/>
                            </p:stCondLst>
                            <p:childTnLst>
                              <p:par>
                                <p:cTn id="287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6" dur="500" fill="hold"/>
                                        <p:tgtEl>
                                          <p:spTgt spid="57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500"/>
                            </p:stCondLst>
                            <p:childTnLst>
                              <p:par>
                                <p:cTn id="298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9" dur="500" fill="hold"/>
                                        <p:tgtEl>
                                          <p:spTgt spid="59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1000"/>
                            </p:stCondLst>
                            <p:childTnLst>
                              <p:par>
                                <p:cTn id="301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0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0" dur="500" fill="hold"/>
                                        <p:tgtEl>
                                          <p:spTgt spid="59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500"/>
                            </p:stCondLst>
                            <p:childTnLst>
                              <p:par>
                                <p:cTn id="312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3" dur="500" fill="hold"/>
                                        <p:tgtEl>
                                          <p:spTgt spid="60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1000"/>
                            </p:stCondLst>
                            <p:childTnLst>
                              <p:par>
                                <p:cTn id="315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4" dur="500" fill="hold"/>
                                        <p:tgtEl>
                                          <p:spTgt spid="60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500"/>
                            </p:stCondLst>
                            <p:childTnLst>
                              <p:par>
                                <p:cTn id="32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7" dur="500" fill="hold"/>
                                        <p:tgtEl>
                                          <p:spTgt spid="1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1000"/>
                            </p:stCondLst>
                            <p:childTnLst>
                              <p:par>
                                <p:cTn id="329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8" dur="500" fill="hold"/>
                                        <p:tgtEl>
                                          <p:spTgt spid="18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500"/>
                            </p:stCondLst>
                            <p:childTnLst>
                              <p:par>
                                <p:cTn id="340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1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1000"/>
                            </p:stCondLst>
                            <p:childTnLst>
                              <p:par>
                                <p:cTn id="343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2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500"/>
                            </p:stCondLst>
                            <p:childTnLst>
                              <p:par>
                                <p:cTn id="354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5" dur="500" fill="hold"/>
                                        <p:tgtEl>
                                          <p:spTgt spid="20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1000"/>
                            </p:stCondLst>
                            <p:childTnLst>
                              <p:par>
                                <p:cTn id="357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6" dur="500" fill="hold"/>
                                        <p:tgtEl>
                                          <p:spTgt spid="20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500"/>
                            </p:stCondLst>
                            <p:childTnLst>
                              <p:par>
                                <p:cTn id="368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9" dur="500" fill="hold"/>
                                        <p:tgtEl>
                                          <p:spTgt spid="21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1000"/>
                            </p:stCondLst>
                            <p:childTnLst>
                              <p:par>
                                <p:cTn id="371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0" dur="500" fill="hold"/>
                                        <p:tgtEl>
                                          <p:spTgt spid="21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1" fill="hold">
                            <p:stCondLst>
                              <p:cond delay="500"/>
                            </p:stCondLst>
                            <p:childTnLst>
                              <p:par>
                                <p:cTn id="382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3" dur="500" fill="hold"/>
                                        <p:tgtEl>
                                          <p:spTgt spid="22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1000"/>
                            </p:stCondLst>
                            <p:childTnLst>
                              <p:par>
                                <p:cTn id="385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4" dur="500" fill="hold"/>
                                        <p:tgtEl>
                                          <p:spTgt spid="22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500"/>
                            </p:stCondLst>
                            <p:childTnLst>
                              <p:par>
                                <p:cTn id="39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7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9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8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fill="hold">
                            <p:stCondLst>
                              <p:cond delay="500"/>
                            </p:stCondLst>
                            <p:childTnLst>
                              <p:par>
                                <p:cTn id="410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1" dur="500" fill="hold"/>
                                        <p:tgtEl>
                                          <p:spTgt spid="24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1000"/>
                            </p:stCondLst>
                            <p:childTnLst>
                              <p:par>
                                <p:cTn id="413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2" dur="500" fill="hold"/>
                                        <p:tgtEl>
                                          <p:spTgt spid="24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3" fill="hold">
                            <p:stCondLst>
                              <p:cond delay="500"/>
                            </p:stCondLst>
                            <p:childTnLst>
                              <p:par>
                                <p:cTn id="424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5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fill="hold">
                            <p:stCondLst>
                              <p:cond delay="1000"/>
                            </p:stCondLst>
                            <p:childTnLst>
                              <p:par>
                                <p:cTn id="427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3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3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6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29" grpId="2" animBg="1"/>
      <p:bldP spid="29" grpId="3" animBg="1"/>
      <p:bldP spid="49" grpId="0" animBg="1"/>
      <p:bldP spid="49" grpId="1" animBg="1"/>
      <p:bldP spid="49" grpId="2" animBg="1"/>
      <p:bldP spid="49" grpId="3" animBg="1"/>
      <p:bldP spid="50" grpId="0" animBg="1"/>
      <p:bldP spid="50" grpId="1" animBg="1"/>
      <p:bldP spid="50" grpId="2" animBg="1"/>
      <p:bldP spid="50" grpId="3" animBg="1"/>
      <p:bldP spid="54" grpId="0" animBg="1"/>
      <p:bldP spid="54" grpId="1" animBg="1"/>
      <p:bldP spid="54" grpId="2" animBg="1"/>
      <p:bldP spid="54" grpId="3" animBg="1"/>
      <p:bldP spid="55" grpId="0" animBg="1"/>
      <p:bldP spid="55" grpId="1" animBg="1"/>
      <p:bldP spid="55" grpId="2" animBg="1"/>
      <p:bldP spid="55" grpId="3" animBg="1"/>
      <p:bldP spid="56" grpId="0" animBg="1"/>
      <p:bldP spid="56" grpId="1" animBg="1"/>
      <p:bldP spid="56" grpId="2" animBg="1"/>
      <p:bldP spid="56" grpId="3" animBg="1"/>
      <p:bldP spid="57" grpId="0" animBg="1"/>
      <p:bldP spid="57" grpId="1" animBg="1"/>
      <p:bldP spid="57" grpId="2" animBg="1"/>
      <p:bldP spid="57" grpId="3" animBg="1"/>
      <p:bldP spid="59" grpId="0" animBg="1"/>
      <p:bldP spid="59" grpId="1" animBg="1"/>
      <p:bldP spid="59" grpId="2" animBg="1"/>
      <p:bldP spid="59" grpId="3" animBg="1"/>
      <p:bldP spid="60" grpId="0" animBg="1"/>
      <p:bldP spid="60" grpId="1" animBg="1"/>
      <p:bldP spid="60" grpId="2" animBg="1"/>
      <p:bldP spid="60" grpId="3" animBg="1"/>
      <p:bldP spid="4" grpId="0"/>
      <p:bldP spid="4" grpId="1"/>
      <p:bldP spid="4" grpId="3"/>
      <p:bldP spid="64" grpId="0"/>
      <p:bldP spid="64" grpId="1"/>
      <p:bldP spid="64" grpId="3"/>
      <p:bldP spid="65" grpId="0"/>
      <p:bldP spid="65" grpId="1"/>
      <p:bldP spid="65" grpId="2"/>
      <p:bldP spid="18" grpId="0" animBg="1"/>
      <p:bldP spid="18" grpId="1" animBg="1"/>
      <p:bldP spid="18" grpId="2" animBg="1"/>
      <p:bldP spid="18" grpId="3" animBg="1"/>
      <p:bldP spid="19" grpId="0" animBg="1"/>
      <p:bldP spid="19" grpId="1" animBg="1"/>
      <p:bldP spid="19" grpId="2" animBg="1"/>
      <p:bldP spid="19" grpId="3" animBg="1"/>
      <p:bldP spid="20" grpId="0" animBg="1"/>
      <p:bldP spid="20" grpId="1" animBg="1"/>
      <p:bldP spid="20" grpId="2" animBg="1"/>
      <p:bldP spid="20" grpId="3" animBg="1"/>
      <p:bldP spid="21" grpId="0" animBg="1"/>
      <p:bldP spid="21" grpId="1" animBg="1"/>
      <p:bldP spid="21" grpId="2" animBg="1"/>
      <p:bldP spid="21" grpId="3" animBg="1"/>
      <p:bldP spid="22" grpId="0" animBg="1"/>
      <p:bldP spid="22" grpId="1" animBg="1"/>
      <p:bldP spid="22" grpId="2" animBg="1"/>
      <p:bldP spid="22" grpId="3" animBg="1"/>
      <p:bldP spid="23" grpId="0" animBg="1"/>
      <p:bldP spid="23" grpId="1" animBg="1"/>
      <p:bldP spid="23" grpId="2" animBg="1"/>
      <p:bldP spid="23" grpId="3" animBg="1"/>
      <p:bldP spid="24" grpId="0" animBg="1"/>
      <p:bldP spid="24" grpId="1" animBg="1"/>
      <p:bldP spid="24" grpId="2" animBg="1"/>
      <p:bldP spid="24" grpId="3" animBg="1"/>
      <p:bldP spid="25" grpId="0" animBg="1"/>
      <p:bldP spid="25" grpId="1" animBg="1"/>
      <p:bldP spid="25" grpId="2" animBg="1"/>
      <p:bldP spid="25" grpId="3" animBg="1"/>
      <p:bldP spid="31" grpId="0"/>
      <p:bldP spid="31" grpId="1"/>
      <p:bldP spid="31" grpId="2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17" y="583025"/>
            <a:ext cx="9142766" cy="461522"/>
          </a:xfrm>
          <a:prstGeom prst="rect">
            <a:avLst/>
          </a:prstGeom>
          <a:solidFill>
            <a:srgbClr val="F79646">
              <a:lumMod val="75000"/>
            </a:srgbClr>
          </a:solidFill>
          <a:effectLst/>
        </p:spPr>
        <p:txBody>
          <a:bodyPr wrap="square" lIns="45706" tIns="22853" rIns="45706" bIns="22853">
            <a:spAutoFit/>
          </a:bodyPr>
          <a:lstStyle/>
          <a:p>
            <a:pPr algn="ctr" defTabSz="816201">
              <a:defRPr/>
            </a:pPr>
            <a:r>
              <a:rPr lang="en-US" sz="2699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What You’ll Learn</a:t>
            </a:r>
            <a:endParaRPr lang="en-US" sz="2699" dirty="0">
              <a:ln w="18415" cmpd="sng">
                <a:noFill/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2735" y="1313595"/>
            <a:ext cx="8074708" cy="2020506"/>
          </a:xfrm>
          <a:prstGeom prst="rect">
            <a:avLst/>
          </a:prstGeom>
          <a:noFill/>
        </p:spPr>
        <p:txBody>
          <a:bodyPr wrap="square" lIns="81615" tIns="40807" rIns="81615" bIns="40807" rtlCol="0">
            <a:spAutoFit/>
          </a:bodyPr>
          <a:lstStyle/>
          <a:p>
            <a:pPr marL="255066" indent="-255066" defTabSz="816201"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prstClr val="white"/>
                </a:solidFill>
                <a:latin typeface="Segoe UI Light" panose="020B0502040204020203" pitchFamily="34" charset="0"/>
              </a:rPr>
              <a:t>How to </a:t>
            </a:r>
            <a:r>
              <a:rPr lang="en-US" sz="17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write a real command-line application in Haskell</a:t>
            </a: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r>
              <a:rPr lang="en-US" sz="17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How to parse command-line arguments</a:t>
            </a: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r>
              <a:rPr lang="en-US" sz="17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How to parse data from and write data to the file system in a structured format</a:t>
            </a: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prstClr val="white"/>
                </a:solidFill>
                <a:latin typeface="Segoe UI Light" panose="020B0502040204020203" pitchFamily="34" charset="0"/>
              </a:rPr>
              <a:t>How to </a:t>
            </a:r>
            <a:r>
              <a:rPr lang="en-US" sz="17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implement CRUD-style operations on data</a:t>
            </a: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82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17" y="583025"/>
            <a:ext cx="9142766" cy="461522"/>
          </a:xfrm>
          <a:prstGeom prst="rect">
            <a:avLst/>
          </a:prstGeom>
          <a:solidFill>
            <a:srgbClr val="F79646">
              <a:lumMod val="75000"/>
            </a:srgbClr>
          </a:solidFill>
          <a:effectLst/>
        </p:spPr>
        <p:txBody>
          <a:bodyPr wrap="square" lIns="45706" tIns="22853" rIns="45706" bIns="22853">
            <a:spAutoFit/>
          </a:bodyPr>
          <a:lstStyle/>
          <a:p>
            <a:pPr algn="ctr" defTabSz="816201">
              <a:defRPr/>
            </a:pPr>
            <a:r>
              <a:rPr lang="en-US" sz="2699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Prerequisites</a:t>
            </a:r>
            <a:endParaRPr lang="en-US" sz="2699" dirty="0">
              <a:ln w="18415" cmpd="sng">
                <a:noFill/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2735" y="1313595"/>
            <a:ext cx="8074708" cy="2020506"/>
          </a:xfrm>
          <a:prstGeom prst="rect">
            <a:avLst/>
          </a:prstGeom>
          <a:noFill/>
        </p:spPr>
        <p:txBody>
          <a:bodyPr wrap="square" lIns="81615" tIns="40807" rIns="81615" bIns="40807" rtlCol="0">
            <a:spAutoFit/>
          </a:bodyPr>
          <a:lstStyle/>
          <a:p>
            <a:pPr marL="255066" indent="-255066" defTabSz="816201"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prstClr val="white"/>
                </a:solidFill>
                <a:latin typeface="Segoe UI Light" panose="020B0502040204020203" pitchFamily="34" charset="0"/>
              </a:rPr>
              <a:t>A basic understanding of the Haskell programming </a:t>
            </a:r>
            <a:r>
              <a:rPr lang="en-US" sz="17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language</a:t>
            </a: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r>
              <a:rPr lang="en-US" sz="17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Familiarity with the basics of writing real programs</a:t>
            </a: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prstClr val="white"/>
                </a:solidFill>
                <a:latin typeface="Segoe UI Light" panose="020B0502040204020203" pitchFamily="34" charset="0"/>
              </a:rPr>
              <a:t>The Haskell Stack build tool</a:t>
            </a: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prstClr val="white"/>
                </a:solidFill>
                <a:latin typeface="Segoe UI Light" panose="020B0502040204020203" pitchFamily="34" charset="0"/>
              </a:rPr>
              <a:t>Comfort with the Windows, Linux or </a:t>
            </a:r>
            <a:r>
              <a:rPr lang="en-US" sz="1799" dirty="0" err="1">
                <a:solidFill>
                  <a:prstClr val="white"/>
                </a:solidFill>
                <a:latin typeface="Segoe UI Light" panose="020B0502040204020203" pitchFamily="34" charset="0"/>
              </a:rPr>
              <a:t>macOS</a:t>
            </a:r>
            <a:r>
              <a:rPr lang="en-US" sz="1799" dirty="0">
                <a:solidFill>
                  <a:prstClr val="white"/>
                </a:solidFill>
                <a:latin typeface="Segoe UI Light" panose="020B0502040204020203" pitchFamily="34" charset="0"/>
              </a:rPr>
              <a:t> command line</a:t>
            </a:r>
          </a:p>
        </p:txBody>
      </p:sp>
    </p:spTree>
    <p:extLst>
      <p:ext uri="{BB962C8B-B14F-4D97-AF65-F5344CB8AC3E}">
        <p14:creationId xmlns:p14="http://schemas.microsoft.com/office/powerpoint/2010/main" val="2120734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69948"/>
      </p:ext>
    </p:extLst>
  </p:cSld>
  <p:clrMapOvr>
    <a:masterClrMapping/>
  </p:clrMapOvr>
</p:sld>
</file>

<file path=ppt/theme/theme1.xml><?xml version="1.0" encoding="utf-8"?>
<a:theme xmlns:a="http://schemas.openxmlformats.org/drawingml/2006/main" name="Packt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176</Words>
  <Application>Microsoft Macintosh PowerPoint</Application>
  <PresentationFormat>On-screen Show (16:9)</PresentationFormat>
  <Paragraphs>52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Roboto</vt:lpstr>
      <vt:lpstr>Segoe UI Light</vt:lpstr>
      <vt:lpstr>Packt</vt:lpstr>
      <vt:lpstr>Building an Application with Haskell</vt:lpstr>
      <vt:lpstr>About the author</vt:lpstr>
      <vt:lpstr>Course overview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Subsection Title</dc:title>
  <cp:lastModifiedBy>Richard Cook</cp:lastModifiedBy>
  <cp:revision>59</cp:revision>
  <dcterms:modified xsi:type="dcterms:W3CDTF">2017-07-19T16:45:47Z</dcterms:modified>
</cp:coreProperties>
</file>