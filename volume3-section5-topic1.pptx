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13"/>
  </p:notesMasterIdLst>
  <p:sldIdLst>
    <p:sldId id="270" r:id="rId3"/>
    <p:sldId id="276" r:id="rId4"/>
    <p:sldId id="258" r:id="rId5"/>
    <p:sldId id="272" r:id="rId6"/>
    <p:sldId id="277" r:id="rId7"/>
    <p:sldId id="278" r:id="rId8"/>
    <p:sldId id="279" r:id="rId9"/>
    <p:sldId id="280" r:id="rId10"/>
    <p:sldId id="281" r:id="rId11"/>
    <p:sldId id="269"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12"/>
    <p:restoredTop sz="87743" autoAdjust="0"/>
  </p:normalViewPr>
  <p:slideViewPr>
    <p:cSldViewPr>
      <p:cViewPr varScale="1">
        <p:scale>
          <a:sx n="101" d="100"/>
          <a:sy n="101" d="100"/>
        </p:scale>
        <p:origin x="1736" y="184"/>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The name of</a:t>
            </a:r>
            <a:r>
              <a:rPr lang="en-US" baseline="0" dirty="0"/>
              <a:t> the section would be mentioned here.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a:t>
            </a:r>
            <a:r>
              <a:rPr lang="en-US" baseline="0" dirty="0"/>
              <a:t> Slide]</a:t>
            </a:r>
          </a:p>
          <a:p>
            <a:pPr lvl="0" rtl="0">
              <a:spcBef>
                <a:spcPts val="0"/>
              </a:spcBef>
              <a:buNone/>
            </a:pPr>
            <a:r>
              <a:rPr lang="en-US" dirty="0"/>
              <a:t>This is a sort of a road map to</a:t>
            </a:r>
            <a:r>
              <a:rPr lang="en-US" baseline="0" dirty="0"/>
              <a:t> get introduced to the topics of the section and their title. Instead of putting them as straight bullets, we can show a learning path.</a:t>
            </a:r>
            <a:endParaRPr/>
          </a:p>
        </p:txBody>
      </p:sp>
    </p:spTree>
    <p:extLst>
      <p:ext uri="{BB962C8B-B14F-4D97-AF65-F5344CB8AC3E}">
        <p14:creationId xmlns:p14="http://schemas.microsoft.com/office/powerpoint/2010/main" val="584802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71275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453135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689699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225568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271529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91195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99"/>
        <p:cNvGrpSpPr/>
        <p:nvPr/>
      </p:nvGrpSpPr>
      <p:grpSpPr>
        <a:xfrm>
          <a:off x="0" y="0"/>
          <a:ext cx="0" cy="0"/>
          <a:chOff x="0" y="0"/>
          <a:chExt cx="0" cy="0"/>
        </a:xfrm>
      </p:grpSpPr>
      <p:sp>
        <p:nvSpPr>
          <p:cNvPr id="100" name="Shape 10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01" name="Shape 10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02" name="Shape 10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03" name="Shape 10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cSld name="Standalone Introduction or Summary">
    <p:bg>
      <p:bgPr>
        <a:solidFill>
          <a:srgbClr val="F37021"/>
        </a:solidFill>
        <a:effectLst/>
      </p:bgPr>
    </p:bg>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theme" Target="../theme/theme2.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2" r:id="rId3"/>
    <p:sldLayoutId id="2147483674" r:id="rId4"/>
    <p:sldLayoutId id="2147483679" r:id="rId5"/>
    <p:sldLayoutId id="2147483681" r:id="rId6"/>
    <p:sldLayoutId id="2147483683" r:id="rId7"/>
    <p:sldLayoutId id="2147483684" r:id="rId8"/>
    <p:sldLayoutId id="2147483685" r:id="rId9"/>
    <p:sldLayoutId id="2147483686" r:id="rId10"/>
    <p:sldLayoutId id="2147483687" r:id="rId11"/>
    <p:sldLayoutId id="2147483688" r:id="rId12"/>
    <p:sldLayoutId id="2147483689" r:id="rId13"/>
    <p:sldLayoutId id="214748369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reflex-frp/reflex-todomvc" TargetMode="External"/><Relationship Id="rId4" Type="http://schemas.openxmlformats.org/officeDocument/2006/relationships/hyperlink" Target="https://github.com/crodjer/haste-todomvc" TargetMode="External"/><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Shape 173"/>
          <p:cNvSpPr txBox="1">
            <a:spLocks noGrp="1"/>
          </p:cNvSpPr>
          <p:nvPr>
            <p:ph type="title"/>
          </p:nvPr>
        </p:nvSpPr>
        <p:spPr>
          <a:xfrm>
            <a:off x="460950" y="2065350"/>
            <a:ext cx="8222100" cy="1012800"/>
          </a:xfrm>
          <a:prstGeom prst="rect">
            <a:avLst/>
          </a:prstGeom>
        </p:spPr>
        <p:txBody>
          <a:bodyPr lIns="91425" tIns="91425" rIns="91425" bIns="91425" anchor="ctr" anchorCtr="0">
            <a:noAutofit/>
          </a:bodyPr>
          <a:lstStyle/>
          <a:p>
            <a:pPr lvl="0"/>
            <a:r>
              <a:rPr lang="en-US" dirty="0" smtClean="0"/>
              <a:t>Conclusions</a:t>
            </a:r>
            <a:endParaRPr lang="e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cxnSp>
        <p:nvCxnSpPr>
          <p:cNvPr id="178" name="Shape 178"/>
          <p:cNvCxnSpPr/>
          <p:nvPr/>
        </p:nvCxnSpPr>
        <p:spPr>
          <a:xfrm rot="10800000">
            <a:off x="680050" y="2153374"/>
            <a:ext cx="0" cy="1122600"/>
          </a:xfrm>
          <a:prstGeom prst="straightConnector1">
            <a:avLst/>
          </a:prstGeom>
          <a:noFill/>
          <a:ln w="9525" cap="flat" cmpd="sng">
            <a:solidFill>
              <a:schemeClr val="dk2"/>
            </a:solidFill>
            <a:prstDash val="solid"/>
            <a:round/>
            <a:headEnd type="none" w="lg" len="lg"/>
            <a:tailEnd type="oval" w="lg" len="lg"/>
          </a:ln>
        </p:spPr>
      </p:cxnSp>
      <p:cxnSp>
        <p:nvCxnSpPr>
          <p:cNvPr id="181" name="Shape 181"/>
          <p:cNvCxnSpPr/>
          <p:nvPr/>
        </p:nvCxnSpPr>
        <p:spPr>
          <a:xfrm>
            <a:off x="2114150" y="3296200"/>
            <a:ext cx="0" cy="667800"/>
          </a:xfrm>
          <a:prstGeom prst="straightConnector1">
            <a:avLst/>
          </a:prstGeom>
          <a:noFill/>
          <a:ln w="9525" cap="flat" cmpd="sng">
            <a:solidFill>
              <a:schemeClr val="dk2"/>
            </a:solidFill>
            <a:prstDash val="solid"/>
            <a:round/>
            <a:headEnd type="none" w="lg" len="lg"/>
            <a:tailEnd type="oval" w="lg" len="lg"/>
          </a:ln>
        </p:spPr>
      </p:cxnSp>
      <p:sp>
        <p:nvSpPr>
          <p:cNvPr id="193" name="Shape 193"/>
          <p:cNvSpPr txBox="1">
            <a:spLocks noGrp="1"/>
          </p:cNvSpPr>
          <p:nvPr>
            <p:ph type="title"/>
          </p:nvPr>
        </p:nvSpPr>
        <p:spPr>
          <a:xfrm>
            <a:off x="471900" y="738725"/>
            <a:ext cx="8222100" cy="767700"/>
          </a:xfrm>
          <a:prstGeom prst="rect">
            <a:avLst/>
          </a:prstGeom>
        </p:spPr>
        <p:txBody>
          <a:bodyPr lIns="91425" tIns="91425" rIns="91425" bIns="91425" anchor="b" anchorCtr="0">
            <a:noAutofit/>
          </a:bodyPr>
          <a:lstStyle/>
          <a:p>
            <a:pPr lvl="0" rtl="0">
              <a:spcBef>
                <a:spcPts val="0"/>
              </a:spcBef>
              <a:buNone/>
            </a:pPr>
            <a:r>
              <a:rPr lang="en"/>
              <a:t>What We’ll Learn</a:t>
            </a:r>
          </a:p>
        </p:txBody>
      </p:sp>
      <p:grpSp>
        <p:nvGrpSpPr>
          <p:cNvPr id="2" name="Shape 194"/>
          <p:cNvGrpSpPr/>
          <p:nvPr/>
        </p:nvGrpSpPr>
        <p:grpSpPr>
          <a:xfrm>
            <a:off x="383437" y="2992212"/>
            <a:ext cx="8377136" cy="667800"/>
            <a:chOff x="383437" y="2845250"/>
            <a:chExt cx="8377136" cy="667800"/>
          </a:xfrm>
        </p:grpSpPr>
        <p:sp>
          <p:nvSpPr>
            <p:cNvPr id="195" name="Shape 195"/>
            <p:cNvSpPr/>
            <p:nvPr/>
          </p:nvSpPr>
          <p:spPr>
            <a:xfrm rot="5400000">
              <a:off x="8137924" y="2890400"/>
              <a:ext cx="667800" cy="577500"/>
            </a:xfrm>
            <a:prstGeom prst="triangle">
              <a:avLst>
                <a:gd name="adj" fmla="val 50000"/>
              </a:avLst>
            </a:prstGeom>
            <a:solidFill>
              <a:srgbClr val="4285F4"/>
            </a:solidFill>
            <a:ln>
              <a:noFill/>
            </a:ln>
          </p:spPr>
          <p:txBody>
            <a:bodyPr lIns="91425" tIns="91425" rIns="91425" bIns="91425" anchor="ctr" anchorCtr="0">
              <a:noAutofit/>
            </a:bodyPr>
            <a:lstStyle/>
            <a:p>
              <a:pPr lvl="0">
                <a:spcBef>
                  <a:spcPts val="0"/>
                </a:spcBef>
                <a:buNone/>
              </a:pPr>
              <a:endParaRPr/>
            </a:p>
          </p:txBody>
        </p:sp>
        <p:sp>
          <p:nvSpPr>
            <p:cNvPr id="196" name="Shape 196"/>
            <p:cNvSpPr/>
            <p:nvPr/>
          </p:nvSpPr>
          <p:spPr>
            <a:xfrm>
              <a:off x="383437" y="3057650"/>
              <a:ext cx="7904700" cy="243000"/>
            </a:xfrm>
            <a:prstGeom prst="rect">
              <a:avLst/>
            </a:prstGeom>
            <a:solidFill>
              <a:srgbClr val="4285F4"/>
            </a:solidFill>
            <a:ln>
              <a:noFill/>
            </a:ln>
          </p:spPr>
          <p:txBody>
            <a:bodyPr lIns="91425" tIns="91425" rIns="91425" bIns="91425" anchor="ctr" anchorCtr="0">
              <a:noAutofit/>
            </a:bodyPr>
            <a:lstStyle/>
            <a:p>
              <a:pPr lvl="0">
                <a:spcBef>
                  <a:spcPts val="0"/>
                </a:spcBef>
                <a:buNone/>
              </a:pPr>
              <a:endParaRPr/>
            </a:p>
          </p:txBody>
        </p:sp>
      </p:grpSp>
      <p:sp>
        <p:nvSpPr>
          <p:cNvPr id="3" name="Title 2"/>
          <p:cNvSpPr>
            <a:spLocks noGrp="1"/>
          </p:cNvSpPr>
          <p:nvPr>
            <p:ph type="title"/>
          </p:nvPr>
        </p:nvSpPr>
        <p:spPr/>
        <p:txBody>
          <a:bodyPr/>
          <a:lstStyle/>
          <a:p>
            <a:endParaRPr lang="en-US"/>
          </a:p>
        </p:txBody>
      </p:sp>
      <p:sp>
        <p:nvSpPr>
          <p:cNvPr id="4" name="Text Placeholder 3"/>
          <p:cNvSpPr>
            <a:spLocks noGrp="1"/>
          </p:cNvSpPr>
          <p:nvPr>
            <p:ph type="body" idx="1"/>
          </p:nvPr>
        </p:nvSpPr>
        <p:spPr/>
        <p:txBody>
          <a:bodyPr/>
          <a:lstStyle/>
          <a:p>
            <a:endParaRPr lang="en-US"/>
          </a:p>
        </p:txBody>
      </p:sp>
      <p:sp>
        <p:nvSpPr>
          <p:cNvPr id="5" name="Title 4"/>
          <p:cNvSpPr>
            <a:spLocks noGrp="1"/>
          </p:cNvSpPr>
          <p:nvPr>
            <p:ph type="title"/>
          </p:nvPr>
        </p:nvSpPr>
        <p:spPr/>
        <p:txBody>
          <a:bodyPr/>
          <a:lstStyle/>
          <a:p>
            <a:endParaRPr lang="en-US"/>
          </a:p>
        </p:txBody>
      </p:sp>
      <p:sp>
        <p:nvSpPr>
          <p:cNvPr id="6" name="Text Placeholder 5"/>
          <p:cNvSpPr>
            <a:spLocks noGrp="1"/>
          </p:cNvSpPr>
          <p:nvPr>
            <p:ph type="body" idx="1"/>
          </p:nvPr>
        </p:nvSpPr>
        <p:spPr/>
        <p:txBody>
          <a:bodyPr/>
          <a:lstStyle/>
          <a:p>
            <a:endParaRPr lang="en-US"/>
          </a:p>
        </p:txBody>
      </p:sp>
      <p:sp>
        <p:nvSpPr>
          <p:cNvPr id="7" name="Title 6"/>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dirty="0"/>
          </a:p>
        </p:txBody>
      </p:sp>
      <p:sp>
        <p:nvSpPr>
          <p:cNvPr id="179" name="Shape 179"/>
          <p:cNvSpPr txBox="1">
            <a:spLocks noGrp="1"/>
          </p:cNvSpPr>
          <p:nvPr>
            <p:ph type="title"/>
          </p:nvPr>
        </p:nvSpPr>
        <p:spPr>
          <a:xfrm>
            <a:off x="727112" y="1995898"/>
            <a:ext cx="2778088" cy="392100"/>
          </a:xfrm>
          <a:prstGeom prst="rect">
            <a:avLst/>
          </a:prstGeom>
        </p:spPr>
        <p:txBody>
          <a:bodyPr lIns="91425" tIns="91425" rIns="91425" bIns="91425" anchor="ctr" anchorCtr="0">
            <a:noAutofit/>
          </a:bodyPr>
          <a:lstStyle/>
          <a:p>
            <a:pPr lvl="0" rtl="0">
              <a:spcBef>
                <a:spcPts val="0"/>
              </a:spcBef>
              <a:buNone/>
            </a:pPr>
            <a:r>
              <a:rPr lang="en-US" sz="1800" dirty="0" smtClean="0">
                <a:solidFill>
                  <a:schemeClr val="dk1"/>
                </a:solidFill>
              </a:rPr>
              <a:t>Building on our example</a:t>
            </a:r>
            <a:endParaRPr lang="en" sz="1800" dirty="0">
              <a:solidFill>
                <a:schemeClr val="dk1"/>
              </a:solidFill>
            </a:endParaRPr>
          </a:p>
        </p:txBody>
      </p:sp>
      <p:sp>
        <p:nvSpPr>
          <p:cNvPr id="180" name="Shape 180"/>
          <p:cNvSpPr txBox="1">
            <a:spLocks noGrp="1"/>
          </p:cNvSpPr>
          <p:nvPr>
            <p:ph type="body" idx="1"/>
          </p:nvPr>
        </p:nvSpPr>
        <p:spPr>
          <a:xfrm>
            <a:off x="727112" y="2285924"/>
            <a:ext cx="2930488" cy="578700"/>
          </a:xfrm>
          <a:prstGeom prst="rect">
            <a:avLst/>
          </a:prstGeom>
        </p:spPr>
        <p:txBody>
          <a:bodyPr lIns="91425" tIns="91425" rIns="91425" bIns="91425" anchor="t" anchorCtr="0">
            <a:noAutofit/>
          </a:bodyPr>
          <a:lstStyle/>
          <a:p>
            <a:pPr lvl="0" rtl="0">
              <a:spcBef>
                <a:spcPts val="0"/>
              </a:spcBef>
              <a:buNone/>
            </a:pPr>
            <a:r>
              <a:rPr lang="en-US" sz="1400" smtClean="0">
                <a:solidFill>
                  <a:schemeClr val="dk2"/>
                </a:solidFill>
              </a:rPr>
              <a:t>User interfaces, database, scaling up</a:t>
            </a:r>
            <a:endParaRPr lang="en" sz="1400" dirty="0">
              <a:solidFill>
                <a:schemeClr val="dk2"/>
              </a:solidFill>
            </a:endParaRPr>
          </a:p>
        </p:txBody>
      </p:sp>
      <p:sp>
        <p:nvSpPr>
          <p:cNvPr id="182" name="Shape 182"/>
          <p:cNvSpPr txBox="1">
            <a:spLocks noGrp="1"/>
          </p:cNvSpPr>
          <p:nvPr>
            <p:ph type="title"/>
          </p:nvPr>
        </p:nvSpPr>
        <p:spPr>
          <a:xfrm>
            <a:off x="2161196" y="3725325"/>
            <a:ext cx="2323200" cy="392100"/>
          </a:xfrm>
          <a:prstGeom prst="rect">
            <a:avLst/>
          </a:prstGeom>
        </p:spPr>
        <p:txBody>
          <a:bodyPr lIns="91425" tIns="91425" rIns="91425" bIns="91425" anchor="ctr" anchorCtr="0">
            <a:noAutofit/>
          </a:bodyPr>
          <a:lstStyle/>
          <a:p>
            <a:pPr lvl="0" rtl="0">
              <a:spcBef>
                <a:spcPts val="0"/>
              </a:spcBef>
              <a:buNone/>
            </a:pPr>
            <a:r>
              <a:rPr lang="en-US" sz="1800" dirty="0" smtClean="0">
                <a:solidFill>
                  <a:schemeClr val="dk1"/>
                </a:solidFill>
              </a:rPr>
              <a:t>Wrapping up</a:t>
            </a:r>
            <a:endParaRPr lang="en" sz="1800" dirty="0">
              <a:solidFill>
                <a:schemeClr val="dk1"/>
              </a:solidFill>
            </a:endParaRPr>
          </a:p>
        </p:txBody>
      </p:sp>
      <p:sp>
        <p:nvSpPr>
          <p:cNvPr id="183" name="Shape 183"/>
          <p:cNvSpPr txBox="1">
            <a:spLocks noGrp="1"/>
          </p:cNvSpPr>
          <p:nvPr>
            <p:ph type="body" idx="1"/>
          </p:nvPr>
        </p:nvSpPr>
        <p:spPr>
          <a:xfrm>
            <a:off x="2161210" y="4015342"/>
            <a:ext cx="2258389" cy="578700"/>
          </a:xfrm>
          <a:prstGeom prst="rect">
            <a:avLst/>
          </a:prstGeom>
        </p:spPr>
        <p:txBody>
          <a:bodyPr lIns="91425" tIns="91425" rIns="91425" bIns="91425" anchor="t" anchorCtr="0">
            <a:noAutofit/>
          </a:bodyPr>
          <a:lstStyle/>
          <a:p>
            <a:pPr lvl="0" rtl="0">
              <a:spcBef>
                <a:spcPts val="0"/>
              </a:spcBef>
              <a:buNone/>
            </a:pPr>
            <a:r>
              <a:rPr lang="en-US" sz="1400" dirty="0" smtClean="0">
                <a:solidFill>
                  <a:schemeClr val="dk2"/>
                </a:solidFill>
              </a:rPr>
              <a:t>Conclusions and </a:t>
            </a:r>
            <a:r>
              <a:rPr lang="en-US" sz="1400" smtClean="0">
                <a:solidFill>
                  <a:schemeClr val="dk2"/>
                </a:solidFill>
              </a:rPr>
              <a:t>next steps</a:t>
            </a:r>
            <a:endParaRPr lang="en" sz="1400" dirty="0">
              <a:solidFill>
                <a:schemeClr val="dk2"/>
              </a:solidFill>
            </a:endParaRPr>
          </a:p>
        </p:txBody>
      </p:sp>
    </p:spTree>
    <p:extLst>
      <p:ext uri="{BB962C8B-B14F-4D97-AF65-F5344CB8AC3E}">
        <p14:creationId xmlns:p14="http://schemas.microsoft.com/office/powerpoint/2010/main" val="12531062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smtClean="0"/>
              <a:t>Building on our example</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smtClean="0"/>
              <a:t>Conclusions</a:t>
            </a:r>
            <a:endParaRPr lang="e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In </a:t>
            </a:r>
            <a:r>
              <a:rPr lang="en-US" sz="2200"/>
              <a:t>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User interface options</a:t>
            </a:r>
          </a:p>
          <a:p>
            <a:pPr marL="457200" lvl="0" indent="-355600" rtl="0">
              <a:spcBef>
                <a:spcPts val="0"/>
              </a:spcBef>
              <a:buClr>
                <a:srgbClr val="434343"/>
              </a:buClr>
              <a:buSzPct val="100000"/>
              <a:buChar char="●"/>
            </a:pPr>
            <a:r>
              <a:rPr lang="en-US" sz="2000" dirty="0" smtClean="0">
                <a:solidFill>
                  <a:srgbClr val="434343"/>
                </a:solidFill>
              </a:rPr>
              <a:t>Moving the application to the web</a:t>
            </a:r>
          </a:p>
          <a:p>
            <a:pPr marL="457200" lvl="0" indent="-355600" rtl="0">
              <a:spcBef>
                <a:spcPts val="0"/>
              </a:spcBef>
              <a:buClr>
                <a:srgbClr val="434343"/>
              </a:buClr>
              <a:buSzPct val="100000"/>
              <a:buChar char="●"/>
            </a:pPr>
            <a:r>
              <a:rPr lang="en-US" sz="2000" dirty="0" smtClean="0">
                <a:solidFill>
                  <a:srgbClr val="434343"/>
                </a:solidFill>
              </a:rPr>
              <a:t>Moving the data to a database</a:t>
            </a:r>
          </a:p>
          <a:p>
            <a:pPr marL="457200" lvl="0" indent="-355600" rtl="0">
              <a:spcBef>
                <a:spcPts val="0"/>
              </a:spcBef>
              <a:buClr>
                <a:srgbClr val="434343"/>
              </a:buClr>
              <a:buSzPct val="100000"/>
              <a:buChar char="●"/>
            </a:pPr>
            <a:r>
              <a:rPr lang="en-US" sz="2000" dirty="0" smtClean="0">
                <a:solidFill>
                  <a:srgbClr val="434343"/>
                </a:solidFill>
              </a:rPr>
              <a:t>Scaling up the codebase</a:t>
            </a:r>
            <a:endParaRPr lang="en-US" sz="2000" dirty="0">
              <a:solidFill>
                <a:srgbClr val="434343"/>
              </a:solidFill>
            </a:endParaRPr>
          </a:p>
        </p:txBody>
      </p:sp>
    </p:spTree>
    <p:extLst>
      <p:ext uri="{BB962C8B-B14F-4D97-AF65-F5344CB8AC3E}">
        <p14:creationId xmlns:p14="http://schemas.microsoft.com/office/powerpoint/2010/main" val="12743277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Graphical user interface options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GTK</a:t>
            </a:r>
          </a:p>
          <a:p>
            <a:pPr marL="457200" lvl="0" indent="-355600" rtl="0">
              <a:spcBef>
                <a:spcPts val="0"/>
              </a:spcBef>
              <a:buClr>
                <a:srgbClr val="434343"/>
              </a:buClr>
              <a:buSzPct val="100000"/>
              <a:buChar char="●"/>
            </a:pPr>
            <a:r>
              <a:rPr lang="en-US" sz="2000" dirty="0" err="1" smtClean="0">
                <a:solidFill>
                  <a:srgbClr val="434343"/>
                </a:solidFill>
              </a:rPr>
              <a:t>Threepenny-gui</a:t>
            </a:r>
            <a:endParaRPr lang="en-US" sz="2000" dirty="0" smtClean="0">
              <a:solidFill>
                <a:srgbClr val="434343"/>
              </a:solidFill>
            </a:endParaRPr>
          </a:p>
          <a:p>
            <a:pPr marL="457200" lvl="0" indent="-355600" rtl="0">
              <a:spcBef>
                <a:spcPts val="0"/>
              </a:spcBef>
              <a:buClr>
                <a:srgbClr val="434343"/>
              </a:buClr>
              <a:buSzPct val="100000"/>
              <a:buChar char="●"/>
            </a:pPr>
            <a:r>
              <a:rPr lang="en-US" sz="2000" dirty="0" err="1" smtClean="0">
                <a:solidFill>
                  <a:srgbClr val="434343"/>
                </a:solidFill>
              </a:rPr>
              <a:t>Qt</a:t>
            </a:r>
            <a:endParaRPr lang="en-US" sz="2000" dirty="0" smtClean="0">
              <a:solidFill>
                <a:srgbClr val="434343"/>
              </a:solidFill>
            </a:endParaRPr>
          </a:p>
          <a:p>
            <a:pPr marL="457200" lvl="0" indent="-355600" rtl="0">
              <a:spcBef>
                <a:spcPts val="0"/>
              </a:spcBef>
              <a:buClr>
                <a:srgbClr val="434343"/>
              </a:buClr>
              <a:buSzPct val="100000"/>
              <a:buChar char="●"/>
            </a:pPr>
            <a:r>
              <a:rPr lang="en-US" sz="2000" dirty="0" err="1" smtClean="0">
                <a:solidFill>
                  <a:srgbClr val="434343"/>
                </a:solidFill>
              </a:rPr>
              <a:t>wxWidgets</a:t>
            </a:r>
            <a:endParaRPr lang="en-US" sz="2000" dirty="0">
              <a:solidFill>
                <a:srgbClr val="434343"/>
              </a:solidFill>
            </a:endParaRPr>
          </a:p>
          <a:p>
            <a:pPr marL="457200" lvl="0" indent="-355600" rtl="0">
              <a:spcBef>
                <a:spcPts val="0"/>
              </a:spcBef>
              <a:buClr>
                <a:srgbClr val="434343"/>
              </a:buClr>
              <a:buSzPct val="100000"/>
              <a:buChar char="●"/>
            </a:pPr>
            <a:r>
              <a:rPr lang="en-US" sz="2000" dirty="0" smtClean="0">
                <a:solidFill>
                  <a:srgbClr val="434343"/>
                </a:solidFill>
              </a:rPr>
              <a:t>Allegro</a:t>
            </a:r>
          </a:p>
          <a:p>
            <a:pPr marL="457200" lvl="0" indent="-355600" rtl="0">
              <a:spcBef>
                <a:spcPts val="0"/>
              </a:spcBef>
              <a:buClr>
                <a:srgbClr val="434343"/>
              </a:buClr>
              <a:buSzPct val="100000"/>
              <a:buChar char="●"/>
            </a:pPr>
            <a:r>
              <a:rPr lang="en-US" sz="2000" dirty="0" smtClean="0">
                <a:solidFill>
                  <a:srgbClr val="434343"/>
                </a:solidFill>
              </a:rPr>
              <a:t>FLTK</a:t>
            </a:r>
          </a:p>
        </p:txBody>
      </p:sp>
    </p:spTree>
    <p:extLst>
      <p:ext uri="{BB962C8B-B14F-4D97-AF65-F5344CB8AC3E}">
        <p14:creationId xmlns:p14="http://schemas.microsoft.com/office/powerpoint/2010/main" val="10812435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Moving to the web</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err="1" smtClean="0">
                <a:solidFill>
                  <a:srgbClr val="434343"/>
                </a:solidFill>
              </a:rPr>
              <a:t>Yesod</a:t>
            </a:r>
            <a:endParaRPr lang="en-US" sz="2000" dirty="0" smtClean="0">
              <a:solidFill>
                <a:srgbClr val="434343"/>
              </a:solidFill>
            </a:endParaRPr>
          </a:p>
          <a:p>
            <a:pPr marL="457200" lvl="0" indent="-355600" rtl="0">
              <a:spcBef>
                <a:spcPts val="0"/>
              </a:spcBef>
              <a:buClr>
                <a:srgbClr val="434343"/>
              </a:buClr>
              <a:buSzPct val="100000"/>
              <a:buChar char="●"/>
            </a:pPr>
            <a:r>
              <a:rPr lang="en-US" sz="2000" dirty="0" err="1" smtClean="0">
                <a:solidFill>
                  <a:srgbClr val="434343"/>
                </a:solidFill>
              </a:rPr>
              <a:t>Happstack</a:t>
            </a:r>
            <a:endParaRPr lang="en-US" sz="2000" dirty="0" smtClean="0">
              <a:solidFill>
                <a:srgbClr val="434343"/>
              </a:solidFill>
            </a:endParaRPr>
          </a:p>
          <a:p>
            <a:pPr marL="457200" lvl="0" indent="-355600" rtl="0">
              <a:spcBef>
                <a:spcPts val="0"/>
              </a:spcBef>
              <a:buClr>
                <a:srgbClr val="434343"/>
              </a:buClr>
              <a:buSzPct val="100000"/>
              <a:buChar char="●"/>
            </a:pPr>
            <a:r>
              <a:rPr lang="en-US" sz="2000" dirty="0" smtClean="0">
                <a:solidFill>
                  <a:srgbClr val="434343"/>
                </a:solidFill>
              </a:rPr>
              <a:t>Snap</a:t>
            </a:r>
          </a:p>
          <a:p>
            <a:pPr marL="457200" lvl="0" indent="-355600" rtl="0">
              <a:spcBef>
                <a:spcPts val="0"/>
              </a:spcBef>
              <a:buClr>
                <a:srgbClr val="434343"/>
              </a:buClr>
              <a:buSzPct val="100000"/>
              <a:buChar char="●"/>
            </a:pPr>
            <a:r>
              <a:rPr lang="en-US" sz="2000" dirty="0" smtClean="0">
                <a:solidFill>
                  <a:srgbClr val="434343"/>
                </a:solidFill>
              </a:rPr>
              <a:t>Scotty</a:t>
            </a:r>
          </a:p>
          <a:p>
            <a:pPr marL="457200" lvl="0" indent="-355600" rtl="0">
              <a:spcBef>
                <a:spcPts val="0"/>
              </a:spcBef>
              <a:buClr>
                <a:srgbClr val="434343"/>
              </a:buClr>
              <a:buSzPct val="100000"/>
              <a:buChar char="●"/>
            </a:pPr>
            <a:r>
              <a:rPr lang="en-US" sz="2000" dirty="0" smtClean="0">
                <a:solidFill>
                  <a:srgbClr val="434343"/>
                </a:solidFill>
              </a:rPr>
              <a:t>Servant</a:t>
            </a:r>
          </a:p>
          <a:p>
            <a:pPr marL="457200" lvl="0" indent="-355600" rtl="0">
              <a:spcBef>
                <a:spcPts val="0"/>
              </a:spcBef>
              <a:buClr>
                <a:srgbClr val="434343"/>
              </a:buClr>
              <a:buSzPct val="100000"/>
              <a:buChar char="●"/>
            </a:pPr>
            <a:r>
              <a:rPr lang="en-US" sz="2000" dirty="0" smtClean="0">
                <a:solidFill>
                  <a:srgbClr val="434343"/>
                </a:solidFill>
              </a:rPr>
              <a:t>Hybrid web/desktop apps using Electron (with GHCJS for example)</a:t>
            </a:r>
          </a:p>
        </p:txBody>
      </p:sp>
    </p:spTree>
    <p:extLst>
      <p:ext uri="{BB962C8B-B14F-4D97-AF65-F5344CB8AC3E}">
        <p14:creationId xmlns:p14="http://schemas.microsoft.com/office/powerpoint/2010/main" val="15876226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Examples of similar applications written in Haskell</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smtClean="0">
                <a:solidFill>
                  <a:srgbClr val="434343"/>
                </a:solidFill>
              </a:rPr>
              <a:t>Reflex </a:t>
            </a:r>
            <a:r>
              <a:rPr lang="en-US" sz="2000" dirty="0" err="1" smtClean="0">
                <a:solidFill>
                  <a:srgbClr val="434343"/>
                </a:solidFill>
              </a:rPr>
              <a:t>TodoMVC</a:t>
            </a:r>
            <a:r>
              <a:rPr lang="en-US" sz="2000" dirty="0">
                <a:solidFill>
                  <a:srgbClr val="434343"/>
                </a:solidFill>
              </a:rPr>
              <a:t/>
            </a:r>
            <a:br>
              <a:rPr lang="en-US" sz="2000" dirty="0">
                <a:solidFill>
                  <a:srgbClr val="434343"/>
                </a:solidFill>
              </a:rPr>
            </a:br>
            <a:r>
              <a:rPr lang="en-US" sz="2000" dirty="0">
                <a:solidFill>
                  <a:srgbClr val="434343"/>
                </a:solidFill>
                <a:hlinkClick r:id="rId3"/>
              </a:rPr>
              <a:t>https://</a:t>
            </a:r>
            <a:r>
              <a:rPr lang="en-US" sz="2000" dirty="0" smtClean="0">
                <a:solidFill>
                  <a:srgbClr val="434343"/>
                </a:solidFill>
                <a:hlinkClick r:id="rId3"/>
              </a:rPr>
              <a:t>github.com/reflex-frp/reflex-todomvc</a:t>
            </a:r>
            <a:endParaRPr lang="en-US" sz="2000" dirty="0" smtClean="0">
              <a:solidFill>
                <a:srgbClr val="434343"/>
              </a:solidFill>
            </a:endParaRPr>
          </a:p>
          <a:p>
            <a:pPr marL="457200" lvl="0" indent="-355600">
              <a:buClr>
                <a:srgbClr val="434343"/>
              </a:buClr>
              <a:buChar char="●"/>
            </a:pPr>
            <a:r>
              <a:rPr lang="en-US" sz="2000" dirty="0" smtClean="0">
                <a:solidFill>
                  <a:srgbClr val="434343"/>
                </a:solidFill>
              </a:rPr>
              <a:t>Haste </a:t>
            </a:r>
            <a:r>
              <a:rPr lang="en-US" sz="2000" dirty="0" err="1" smtClean="0">
                <a:solidFill>
                  <a:srgbClr val="434343"/>
                </a:solidFill>
              </a:rPr>
              <a:t>TodoMVC</a:t>
            </a:r>
            <a:r>
              <a:rPr lang="en-US" sz="2000" dirty="0">
                <a:solidFill>
                  <a:srgbClr val="434343"/>
                </a:solidFill>
              </a:rPr>
              <a:t/>
            </a:r>
            <a:br>
              <a:rPr lang="en-US" sz="2000" dirty="0">
                <a:solidFill>
                  <a:srgbClr val="434343"/>
                </a:solidFill>
              </a:rPr>
            </a:br>
            <a:r>
              <a:rPr lang="en-US" sz="2000" dirty="0">
                <a:solidFill>
                  <a:srgbClr val="434343"/>
                </a:solidFill>
                <a:hlinkClick r:id="rId4"/>
              </a:rPr>
              <a:t>https://</a:t>
            </a:r>
            <a:r>
              <a:rPr lang="en-US" sz="2000" dirty="0" smtClean="0">
                <a:solidFill>
                  <a:srgbClr val="434343"/>
                </a:solidFill>
                <a:hlinkClick r:id="rId4"/>
              </a:rPr>
              <a:t>github.com/crodjer/haste-todomvc</a:t>
            </a:r>
            <a:endParaRPr lang="en-US" sz="2000" dirty="0" smtClean="0">
              <a:solidFill>
                <a:srgbClr val="434343"/>
              </a:solidFill>
            </a:endParaRPr>
          </a:p>
        </p:txBody>
      </p:sp>
    </p:spTree>
    <p:extLst>
      <p:ext uri="{BB962C8B-B14F-4D97-AF65-F5344CB8AC3E}">
        <p14:creationId xmlns:p14="http://schemas.microsoft.com/office/powerpoint/2010/main" val="14515761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Moving data to a database</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smtClean="0">
                <a:solidFill>
                  <a:srgbClr val="434343"/>
                </a:solidFill>
              </a:rPr>
              <a:t>SQLite</a:t>
            </a:r>
          </a:p>
          <a:p>
            <a:pPr marL="457200" lvl="0" indent="-355600">
              <a:buClr>
                <a:srgbClr val="434343"/>
              </a:buClr>
              <a:buChar char="●"/>
            </a:pPr>
            <a:r>
              <a:rPr lang="en-US" sz="2000" dirty="0" smtClean="0">
                <a:solidFill>
                  <a:srgbClr val="434343"/>
                </a:solidFill>
              </a:rPr>
              <a:t>PostgreSQL</a:t>
            </a:r>
          </a:p>
          <a:p>
            <a:pPr marL="457200" lvl="0" indent="-355600">
              <a:buClr>
                <a:srgbClr val="434343"/>
              </a:buClr>
              <a:buChar char="●"/>
            </a:pPr>
            <a:r>
              <a:rPr lang="en-US" sz="2000" dirty="0" smtClean="0">
                <a:solidFill>
                  <a:srgbClr val="434343"/>
                </a:solidFill>
              </a:rPr>
              <a:t>MongoDB</a:t>
            </a:r>
          </a:p>
        </p:txBody>
      </p:sp>
    </p:spTree>
    <p:extLst>
      <p:ext uri="{BB962C8B-B14F-4D97-AF65-F5344CB8AC3E}">
        <p14:creationId xmlns:p14="http://schemas.microsoft.com/office/powerpoint/2010/main" val="562363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Scaling up the codebase</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smtClean="0">
                <a:solidFill>
                  <a:srgbClr val="434343"/>
                </a:solidFill>
              </a:rPr>
              <a:t>Split into multiple source files/modules</a:t>
            </a:r>
          </a:p>
          <a:p>
            <a:pPr marL="457200" lvl="0" indent="-355600">
              <a:buClr>
                <a:srgbClr val="434343"/>
              </a:buClr>
              <a:buChar char="●"/>
            </a:pPr>
            <a:r>
              <a:rPr lang="en-US" sz="2000" dirty="0" smtClean="0">
                <a:solidFill>
                  <a:srgbClr val="434343"/>
                </a:solidFill>
              </a:rPr>
              <a:t>Split into multiple targets</a:t>
            </a:r>
          </a:p>
          <a:p>
            <a:pPr marL="457200" lvl="0" indent="-355600">
              <a:buClr>
                <a:srgbClr val="434343"/>
              </a:buClr>
              <a:buChar char="●"/>
            </a:pPr>
            <a:r>
              <a:rPr lang="en-US" sz="2000" dirty="0" smtClean="0">
                <a:solidFill>
                  <a:srgbClr val="434343"/>
                </a:solidFill>
              </a:rPr>
              <a:t>Split into multiple packages</a:t>
            </a:r>
          </a:p>
          <a:p>
            <a:pPr marL="457200" lvl="0" indent="-355600">
              <a:buClr>
                <a:srgbClr val="434343"/>
              </a:buClr>
              <a:buChar char="●"/>
            </a:pPr>
            <a:r>
              <a:rPr lang="en-US" sz="2000" dirty="0" smtClean="0">
                <a:solidFill>
                  <a:srgbClr val="434343"/>
                </a:solidFill>
              </a:rPr>
              <a:t>Documentation</a:t>
            </a:r>
          </a:p>
          <a:p>
            <a:pPr marL="457200" lvl="0" indent="-355600">
              <a:buClr>
                <a:srgbClr val="434343"/>
              </a:buClr>
              <a:buChar char="●"/>
            </a:pPr>
            <a:r>
              <a:rPr lang="en-US" sz="2000" dirty="0" smtClean="0">
                <a:solidFill>
                  <a:srgbClr val="434343"/>
                </a:solidFill>
              </a:rPr>
              <a:t>Tests</a:t>
            </a:r>
          </a:p>
        </p:txBody>
      </p:sp>
    </p:spTree>
    <p:extLst>
      <p:ext uri="{BB962C8B-B14F-4D97-AF65-F5344CB8AC3E}">
        <p14:creationId xmlns:p14="http://schemas.microsoft.com/office/powerpoint/2010/main" val="17665825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smtClean="0"/>
              <a:t>Wrapping up</a:t>
            </a:r>
            <a:endParaRPr lang="e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380</Words>
  <Application>Microsoft Macintosh PowerPoint</Application>
  <PresentationFormat>On-screen Show (16:9)</PresentationFormat>
  <Paragraphs>55</Paragraphs>
  <Slides>10</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Roboto</vt:lpstr>
      <vt:lpstr>Wingdings</vt:lpstr>
      <vt:lpstr>Packt</vt:lpstr>
      <vt:lpstr>Packt</vt:lpstr>
      <vt:lpstr>Conclusions</vt:lpstr>
      <vt:lpstr>What We’ll Learn</vt:lpstr>
      <vt:lpstr>Building on our example</vt:lpstr>
      <vt:lpstr>In this video, we’re going to take a look at…</vt:lpstr>
      <vt:lpstr>Graphical user interface options</vt:lpstr>
      <vt:lpstr>Moving to the web</vt:lpstr>
      <vt:lpstr>Examples of similar applications written in Haskell</vt:lpstr>
      <vt:lpstr>Moving data to a database</vt:lpstr>
      <vt:lpstr>Scaling up the codebase</vt:lpstr>
      <vt:lpstr>Next Video</vt:lpstr>
    </vt:vector>
  </TitlesOfParts>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61</cp:revision>
  <dcterms:modified xsi:type="dcterms:W3CDTF">2017-07-19T16:32:28Z</dcterms:modified>
</cp:coreProperties>
</file>