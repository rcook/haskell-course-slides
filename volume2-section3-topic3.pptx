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8"/>
  </p:notesMasterIdLst>
  <p:sldIdLst>
    <p:sldId id="258" r:id="rId3"/>
    <p:sldId id="270" r:id="rId4"/>
    <p:sldId id="271" r:id="rId5"/>
    <p:sldId id="273" r:id="rId6"/>
    <p:sldId id="269"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57" autoAdjust="0"/>
  </p:normalViewPr>
  <p:slideViewPr>
    <p:cSldViewPr>
      <p:cViewPr varScale="1">
        <p:scale>
          <a:sx n="108" d="100"/>
          <a:sy n="108" d="100"/>
        </p:scale>
        <p:origin x="80" y="2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233464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19369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a:t>Navigating packages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Packages and the Haskell ecosystem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Factors to consider when choosing packages</a:t>
            </a:r>
          </a:p>
          <a:p>
            <a:pPr marL="457200" indent="-355600">
              <a:buClr>
                <a:srgbClr val="434343"/>
              </a:buClr>
              <a:buFont typeface="Calibri"/>
              <a:buChar char="●"/>
            </a:pPr>
            <a:r>
              <a:rPr lang="en-US" sz="2000" dirty="0">
                <a:solidFill>
                  <a:srgbClr val="434343"/>
                </a:solidFill>
              </a:rPr>
              <a:t>Use of various string types</a:t>
            </a:r>
          </a:p>
          <a:p>
            <a:pPr marL="457200" lvl="0" indent="-355600" rtl="0">
              <a:spcBef>
                <a:spcPts val="0"/>
              </a:spcBef>
              <a:buClr>
                <a:srgbClr val="434343"/>
              </a:buClr>
              <a:buSzPct val="100000"/>
              <a:buChar char="●"/>
            </a:pPr>
            <a:r>
              <a:rPr lang="en-US" sz="2000">
                <a:solidFill>
                  <a:srgbClr val="434343"/>
                </a:solidFill>
              </a:rPr>
              <a:t>The generality </a:t>
            </a:r>
            <a:r>
              <a:rPr lang="en-US" sz="2000" dirty="0">
                <a:solidFill>
                  <a:srgbClr val="434343"/>
                </a:solidFill>
              </a:rPr>
              <a:t>vs. complexity tradeoff</a:t>
            </a:r>
          </a:p>
          <a:p>
            <a:pPr marL="457200" lvl="0" indent="-355600" rtl="0">
              <a:spcBef>
                <a:spcPts val="0"/>
              </a:spcBef>
              <a:buClr>
                <a:srgbClr val="434343"/>
              </a:buClr>
              <a:buSzPct val="100000"/>
              <a:buChar char="●"/>
            </a:pPr>
            <a:r>
              <a:rPr lang="en-US" sz="2000" dirty="0">
                <a:solidFill>
                  <a:srgbClr val="434343"/>
                </a:solidFill>
              </a:rPr>
              <a:t>Error handling</a:t>
            </a:r>
          </a:p>
          <a:p>
            <a:pPr marL="457200" lvl="0" indent="-355600" rtl="0">
              <a:spcBef>
                <a:spcPts val="0"/>
              </a:spcBef>
              <a:buClr>
                <a:srgbClr val="434343"/>
              </a:buClr>
              <a:buSzPct val="100000"/>
              <a:buChar char="●"/>
            </a:pPr>
            <a:r>
              <a:rPr lang="en-US" sz="2000" dirty="0">
                <a:solidFill>
                  <a:srgbClr val="434343"/>
                </a:solidFill>
              </a:rPr>
              <a:t>Totality of functions</a:t>
            </a:r>
          </a:p>
          <a:p>
            <a:pPr marL="457200" lvl="0" indent="-355600" rtl="0">
              <a:spcBef>
                <a:spcPts val="0"/>
              </a:spcBef>
              <a:buClr>
                <a:srgbClr val="434343"/>
              </a:buClr>
              <a:buSzPct val="100000"/>
              <a:buChar char="●"/>
            </a:pPr>
            <a:r>
              <a:rPr lang="en-US" sz="2000" dirty="0">
                <a:solidFill>
                  <a:srgbClr val="434343"/>
                </a:solidFill>
              </a:rPr>
              <a:t>Level of maintenance of project and other issues</a:t>
            </a: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Common string types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marR="0" lvl="0" indent="-355600" defTabSz="914400" eaLnBrk="1" fontAlgn="auto" latinLnBrk="0" hangingPunct="1">
              <a:lnSpc>
                <a:spcPct val="100000"/>
              </a:lnSpc>
              <a:spcBef>
                <a:spcPts val="0"/>
              </a:spcBef>
              <a:spcAft>
                <a:spcPts val="0"/>
              </a:spcAft>
              <a:buClr>
                <a:srgbClr val="434343"/>
              </a:buClr>
              <a:buSzTx/>
              <a:buFontTx/>
              <a:buNone/>
              <a:tabLst/>
              <a:defRPr/>
            </a:pPr>
            <a:endParaRPr lang="en-US" sz="2000" dirty="0">
              <a:solidFill>
                <a:srgbClr val="434343"/>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581733267"/>
              </p:ext>
            </p:extLst>
          </p:nvPr>
        </p:nvGraphicFramePr>
        <p:xfrm>
          <a:off x="296168" y="1289050"/>
          <a:ext cx="8551665" cy="2565400"/>
        </p:xfrm>
        <a:graphic>
          <a:graphicData uri="http://schemas.openxmlformats.org/drawingml/2006/table">
            <a:tbl>
              <a:tblPr firstRow="1">
                <a:tableStyleId>{62220494-F72E-42EC-8C15-EB342598EB4E}</a:tableStyleId>
              </a:tblPr>
              <a:tblGrid>
                <a:gridCol w="1084066">
                  <a:extLst>
                    <a:ext uri="{9D8B030D-6E8A-4147-A177-3AD203B41FA5}">
                      <a16:colId xmlns:a16="http://schemas.microsoft.com/office/drawing/2014/main" val="20000"/>
                    </a:ext>
                  </a:extLst>
                </a:gridCol>
                <a:gridCol w="1058166">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gridCol w="2447033">
                  <a:extLst>
                    <a:ext uri="{9D8B030D-6E8A-4147-A177-3AD203B41FA5}">
                      <a16:colId xmlns:a16="http://schemas.microsoft.com/office/drawing/2014/main" val="20004"/>
                    </a:ext>
                  </a:extLst>
                </a:gridCol>
              </a:tblGrid>
              <a:tr h="370840">
                <a:tc>
                  <a:txBody>
                    <a:bodyPr/>
                    <a:lstStyle/>
                    <a:p>
                      <a:r>
                        <a:rPr lang="en-US" b="1" dirty="0">
                          <a:solidFill>
                            <a:schemeClr val="bg2"/>
                          </a:solidFill>
                        </a:rPr>
                        <a:t>Name</a:t>
                      </a:r>
                    </a:p>
                  </a:txBody>
                  <a:tcPr>
                    <a:solidFill>
                      <a:schemeClr val="bg1">
                        <a:lumMod val="85000"/>
                      </a:schemeClr>
                    </a:solidFill>
                  </a:tcPr>
                </a:tc>
                <a:tc>
                  <a:txBody>
                    <a:bodyPr/>
                    <a:lstStyle/>
                    <a:p>
                      <a:r>
                        <a:rPr lang="en-US" b="1" dirty="0">
                          <a:solidFill>
                            <a:schemeClr val="bg2"/>
                          </a:solidFill>
                        </a:rPr>
                        <a:t>Package</a:t>
                      </a:r>
                    </a:p>
                  </a:txBody>
                  <a:tcPr>
                    <a:solidFill>
                      <a:schemeClr val="bg1">
                        <a:lumMod val="85000"/>
                      </a:schemeClr>
                    </a:solidFill>
                  </a:tcPr>
                </a:tc>
                <a:tc>
                  <a:txBody>
                    <a:bodyPr/>
                    <a:lstStyle/>
                    <a:p>
                      <a:r>
                        <a:rPr lang="en-US" b="1" dirty="0">
                          <a:solidFill>
                            <a:schemeClr val="bg2"/>
                          </a:solidFill>
                        </a:rPr>
                        <a:t>Comment</a:t>
                      </a:r>
                    </a:p>
                  </a:txBody>
                  <a:tcPr>
                    <a:solidFill>
                      <a:schemeClr val="bg1">
                        <a:lumMod val="85000"/>
                      </a:schemeClr>
                    </a:solidFill>
                  </a:tcPr>
                </a:tc>
                <a:tc>
                  <a:txBody>
                    <a:bodyPr/>
                    <a:lstStyle/>
                    <a:p>
                      <a:r>
                        <a:rPr lang="en-US" b="1" dirty="0">
                          <a:solidFill>
                            <a:schemeClr val="bg2"/>
                          </a:solidFill>
                        </a:rPr>
                        <a:t>Pros</a:t>
                      </a:r>
                    </a:p>
                  </a:txBody>
                  <a:tcPr>
                    <a:solidFill>
                      <a:schemeClr val="bg1">
                        <a:lumMod val="85000"/>
                      </a:schemeClr>
                    </a:solidFill>
                  </a:tcPr>
                </a:tc>
                <a:tc>
                  <a:txBody>
                    <a:bodyPr/>
                    <a:lstStyle/>
                    <a:p>
                      <a:r>
                        <a:rPr lang="en-US" b="1" dirty="0">
                          <a:solidFill>
                            <a:schemeClr val="bg2"/>
                          </a:solidFill>
                        </a:rPr>
                        <a:t>Cons</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US" b="1" i="1" dirty="0"/>
                        <a:t>String</a:t>
                      </a:r>
                    </a:p>
                  </a:txBody>
                  <a:tcPr/>
                </a:tc>
                <a:tc>
                  <a:txBody>
                    <a:bodyPr/>
                    <a:lstStyle/>
                    <a:p>
                      <a:r>
                        <a:rPr lang="en-US" b="1" i="1" dirty="0"/>
                        <a:t>base</a:t>
                      </a:r>
                    </a:p>
                  </a:txBody>
                  <a:tcPr/>
                </a:tc>
                <a:tc>
                  <a:txBody>
                    <a:bodyPr/>
                    <a:lstStyle/>
                    <a:p>
                      <a:endParaRPr lang="en-US" dirty="0"/>
                    </a:p>
                  </a:txBody>
                  <a:tcPr/>
                </a:tc>
                <a:tc>
                  <a:txBody>
                    <a:bodyPr/>
                    <a:lstStyle/>
                    <a:p>
                      <a:pPr marL="285750" indent="-285750">
                        <a:buFont typeface="Arial" charset="0"/>
                        <a:buChar char="•"/>
                      </a:pPr>
                      <a:r>
                        <a:rPr lang="en-US" dirty="0"/>
                        <a:t>Universally available</a:t>
                      </a:r>
                    </a:p>
                    <a:p>
                      <a:pPr marL="285750" indent="-285750">
                        <a:buFont typeface="Arial" charset="0"/>
                        <a:buChar char="•"/>
                      </a:pPr>
                      <a:r>
                        <a:rPr lang="en-US" dirty="0"/>
                        <a:t>Easy to use</a:t>
                      </a:r>
                    </a:p>
                    <a:p>
                      <a:pPr marL="285750" indent="-285750">
                        <a:buFont typeface="Arial" charset="0"/>
                        <a:buChar char="•"/>
                      </a:pPr>
                      <a:r>
                        <a:rPr lang="en-US" dirty="0"/>
                        <a:t>All list functions available</a:t>
                      </a:r>
                    </a:p>
                  </a:txBody>
                  <a:tcPr/>
                </a:tc>
                <a:tc>
                  <a:txBody>
                    <a:bodyPr/>
                    <a:lstStyle/>
                    <a:p>
                      <a:pPr marL="285750" indent="-285750">
                        <a:buFont typeface="Arial" charset="0"/>
                        <a:buChar char="•"/>
                      </a:pPr>
                      <a:r>
                        <a:rPr lang="en-US" dirty="0"/>
                        <a:t>Inefficient</a:t>
                      </a:r>
                    </a:p>
                    <a:p>
                      <a:pPr marL="285750" indent="-285750">
                        <a:buFont typeface="Arial" charset="0"/>
                        <a:buChar char="•"/>
                      </a:pPr>
                      <a:r>
                        <a:rPr lang="en-US" dirty="0"/>
                        <a:t>Various</a:t>
                      </a:r>
                      <a:r>
                        <a:rPr lang="en-US" baseline="0" dirty="0"/>
                        <a:t> Unicode problems</a:t>
                      </a:r>
                      <a:endParaRPr lang="en-US" dirty="0"/>
                    </a:p>
                  </a:txBody>
                  <a:tcPr/>
                </a:tc>
                <a:extLst>
                  <a:ext uri="{0D108BD9-81ED-4DB2-BD59-A6C34878D82A}">
                    <a16:rowId xmlns:a16="http://schemas.microsoft.com/office/drawing/2014/main" val="10001"/>
                  </a:ext>
                </a:extLst>
              </a:tr>
              <a:tr h="370840">
                <a:tc>
                  <a:txBody>
                    <a:bodyPr/>
                    <a:lstStyle/>
                    <a:p>
                      <a:r>
                        <a:rPr lang="en-US" b="1" i="1" dirty="0"/>
                        <a:t>Text</a:t>
                      </a:r>
                    </a:p>
                  </a:txBody>
                  <a:tcPr/>
                </a:tc>
                <a:tc>
                  <a:txBody>
                    <a:bodyPr/>
                    <a:lstStyle/>
                    <a:p>
                      <a:r>
                        <a:rPr lang="en-US" b="1" i="1" dirty="0"/>
                        <a:t>text</a:t>
                      </a:r>
                    </a:p>
                  </a:txBody>
                  <a:tcPr/>
                </a:tc>
                <a:tc>
                  <a:txBody>
                    <a:bodyPr/>
                    <a:lstStyle/>
                    <a:p>
                      <a:r>
                        <a:rPr lang="en-US" dirty="0"/>
                        <a:t>Has </a:t>
                      </a:r>
                      <a:r>
                        <a:rPr lang="en-US" baseline="0" dirty="0"/>
                        <a:t>lazy and strict versions</a:t>
                      </a:r>
                      <a:endParaRPr lang="en-US" dirty="0"/>
                    </a:p>
                  </a:txBody>
                  <a:tcPr/>
                </a:tc>
                <a:tc>
                  <a:txBody>
                    <a:bodyPr/>
                    <a:lstStyle/>
                    <a:p>
                      <a:pPr marL="285750" indent="-285750">
                        <a:buFont typeface="Arial" charset="0"/>
                        <a:buChar char="•"/>
                      </a:pPr>
                      <a:r>
                        <a:rPr lang="en-US" dirty="0"/>
                        <a:t>Fast</a:t>
                      </a:r>
                    </a:p>
                    <a:p>
                      <a:pPr marL="285750" indent="-285750">
                        <a:buFont typeface="Arial" charset="0"/>
                        <a:buChar char="•"/>
                      </a:pPr>
                      <a:r>
                        <a:rPr lang="en-US" dirty="0"/>
                        <a:t>Memory-efficient</a:t>
                      </a:r>
                    </a:p>
                    <a:p>
                      <a:pPr marL="285750" indent="-285750">
                        <a:buFont typeface="Arial" charset="0"/>
                        <a:buChar char="•"/>
                      </a:pPr>
                      <a:r>
                        <a:rPr lang="en-US" dirty="0"/>
                        <a:t>Handles Unicode well</a:t>
                      </a:r>
                    </a:p>
                  </a:txBody>
                  <a:tcPr/>
                </a:tc>
                <a:tc>
                  <a:txBody>
                    <a:bodyPr/>
                    <a:lstStyle/>
                    <a:p>
                      <a:pPr marL="285750" indent="-285750">
                        <a:buFont typeface="Arial" charset="0"/>
                        <a:buChar char="•"/>
                      </a:pPr>
                      <a:r>
                        <a:rPr lang="en-US" dirty="0"/>
                        <a:t>Interfacing</a:t>
                      </a:r>
                      <a:r>
                        <a:rPr lang="en-US" baseline="0" dirty="0"/>
                        <a:t> with other APIs can be awkward</a:t>
                      </a:r>
                      <a:endParaRPr lang="en-US" dirty="0"/>
                    </a:p>
                  </a:txBody>
                  <a:tcPr/>
                </a:tc>
                <a:extLst>
                  <a:ext uri="{0D108BD9-81ED-4DB2-BD59-A6C34878D82A}">
                    <a16:rowId xmlns:a16="http://schemas.microsoft.com/office/drawing/2014/main" val="10002"/>
                  </a:ext>
                </a:extLst>
              </a:tr>
              <a:tr h="370840">
                <a:tc>
                  <a:txBody>
                    <a:bodyPr/>
                    <a:lstStyle/>
                    <a:p>
                      <a:r>
                        <a:rPr lang="en-US" b="1" i="1" dirty="0" err="1"/>
                        <a:t>ByteString</a:t>
                      </a:r>
                      <a:endParaRPr lang="en-US" b="1" i="1" dirty="0"/>
                    </a:p>
                  </a:txBody>
                  <a:tcPr/>
                </a:tc>
                <a:tc>
                  <a:txBody>
                    <a:bodyPr/>
                    <a:lstStyle/>
                    <a:p>
                      <a:r>
                        <a:rPr lang="en-US" b="1" i="1" dirty="0" err="1"/>
                        <a:t>bytestring</a:t>
                      </a:r>
                      <a:endParaRPr lang="en-US" b="1" i="1" dirty="0"/>
                    </a:p>
                  </a:txBody>
                  <a:tcPr/>
                </a:tc>
                <a:tc>
                  <a:txBody>
                    <a:bodyPr/>
                    <a:lstStyle/>
                    <a:p>
                      <a:r>
                        <a:rPr lang="en-US" dirty="0"/>
                        <a:t>Has lazy and strict versions</a:t>
                      </a:r>
                    </a:p>
                  </a:txBody>
                  <a:tcPr/>
                </a:tc>
                <a:tc>
                  <a:txBody>
                    <a:bodyPr/>
                    <a:lstStyle/>
                    <a:p>
                      <a:pPr marL="285750" indent="-285750">
                        <a:buFont typeface="Arial" charset="0"/>
                        <a:buChar char="•"/>
                      </a:pPr>
                      <a:r>
                        <a:rPr lang="en-US" dirty="0"/>
                        <a:t>Fastest available</a:t>
                      </a:r>
                    </a:p>
                    <a:p>
                      <a:pPr marL="285750" indent="-285750">
                        <a:buFont typeface="Arial" charset="0"/>
                        <a:buChar char="•"/>
                      </a:pPr>
                      <a:r>
                        <a:rPr lang="en-US" dirty="0"/>
                        <a:t>Direct bit-level manipulation</a:t>
                      </a:r>
                    </a:p>
                  </a:txBody>
                  <a:tcPr/>
                </a:tc>
                <a:tc>
                  <a:txBody>
                    <a:bodyPr/>
                    <a:lstStyle/>
                    <a:p>
                      <a:pPr marL="285750" indent="-285750">
                        <a:buFont typeface="Arial" charset="0"/>
                        <a:buChar char="•"/>
                      </a:pPr>
                      <a:r>
                        <a:rPr lang="en-US" dirty="0"/>
                        <a:t>Opaque</a:t>
                      </a:r>
                    </a:p>
                    <a:p>
                      <a:pPr marL="285750" indent="-285750">
                        <a:buFont typeface="Arial" charset="0"/>
                        <a:buChar char="•"/>
                      </a:pPr>
                      <a:r>
                        <a:rPr lang="en-US" dirty="0"/>
                        <a:t>No</a:t>
                      </a:r>
                      <a:r>
                        <a:rPr lang="en-US" baseline="0" dirty="0"/>
                        <a:t> encoding/decoding</a:t>
                      </a:r>
                    </a:p>
                    <a:p>
                      <a:pPr marL="285750" indent="-285750">
                        <a:buFont typeface="Arial" charset="0"/>
                        <a:buChar char="•"/>
                      </a:pPr>
                      <a:r>
                        <a:rPr lang="en-US" baseline="0" dirty="0"/>
                        <a:t>Not really text at all</a:t>
                      </a:r>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65432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Error-handling mechanisms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a:solidFill>
                  <a:srgbClr val="434343"/>
                </a:solidFill>
              </a:rPr>
              <a:t>data Maybe a = Nothing | Just a</a:t>
            </a:r>
          </a:p>
          <a:p>
            <a:pPr marL="457200" lvl="0" indent="-355600" rtl="0">
              <a:spcBef>
                <a:spcPts val="0"/>
              </a:spcBef>
              <a:buClr>
                <a:srgbClr val="434343"/>
              </a:buClr>
              <a:buSzPct val="100000"/>
              <a:buChar char="●"/>
            </a:pPr>
            <a:r>
              <a:rPr lang="en-US" sz="2000" b="1" i="1" dirty="0">
                <a:solidFill>
                  <a:srgbClr val="434343"/>
                </a:solidFill>
              </a:rPr>
              <a:t>data Either a b = Left a </a:t>
            </a:r>
            <a:r>
              <a:rPr lang="en-US" sz="2000" b="1" i="1">
                <a:solidFill>
                  <a:srgbClr val="434343"/>
                </a:solidFill>
              </a:rPr>
              <a:t>| Right b</a:t>
            </a:r>
            <a:endParaRPr lang="en-US" sz="2000" b="1" i="1" dirty="0">
              <a:solidFill>
                <a:srgbClr val="434343"/>
              </a:solidFill>
            </a:endParaRPr>
          </a:p>
          <a:p>
            <a:pPr marL="457200" lvl="0" indent="-355600" rtl="0">
              <a:spcBef>
                <a:spcPts val="0"/>
              </a:spcBef>
              <a:buClr>
                <a:srgbClr val="434343"/>
              </a:buClr>
              <a:buSzPct val="100000"/>
              <a:buChar char="●"/>
            </a:pPr>
            <a:r>
              <a:rPr lang="en-US" sz="2000" dirty="0">
                <a:solidFill>
                  <a:srgbClr val="434343"/>
                </a:solidFill>
              </a:rPr>
              <a:t>Other types and type classes</a:t>
            </a:r>
          </a:p>
          <a:p>
            <a:pPr marL="457200" lvl="0" indent="-355600" rtl="0">
              <a:spcBef>
                <a:spcPts val="0"/>
              </a:spcBef>
              <a:buClr>
                <a:srgbClr val="434343"/>
              </a:buClr>
              <a:buSzPct val="100000"/>
              <a:buChar char="●"/>
            </a:pPr>
            <a:r>
              <a:rPr lang="en-US" sz="2000" dirty="0">
                <a:solidFill>
                  <a:srgbClr val="434343"/>
                </a:solidFill>
              </a:rPr>
              <a:t>Exceptions</a:t>
            </a:r>
          </a:p>
        </p:txBody>
      </p:sp>
    </p:spTree>
    <p:extLst>
      <p:ext uri="{BB962C8B-B14F-4D97-AF65-F5344CB8AC3E}">
        <p14:creationId xmlns:p14="http://schemas.microsoft.com/office/powerpoint/2010/main" val="2067412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Consuming </a:t>
            </a:r>
            <a:r>
              <a:rPr lang="en-US"/>
              <a:t>third-party packages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TotalTime>
  <Words>269</Words>
  <Application>Microsoft Office PowerPoint</Application>
  <PresentationFormat>On-screen Show (16:9)</PresentationFormat>
  <Paragraphs>51</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Arial</vt:lpstr>
      <vt:lpstr>Calibri</vt:lpstr>
      <vt:lpstr>Roboto</vt:lpstr>
      <vt:lpstr>Wingdings</vt:lpstr>
      <vt:lpstr>Packt</vt:lpstr>
      <vt:lpstr>Packt</vt:lpstr>
      <vt:lpstr>Navigating packages</vt:lpstr>
      <vt:lpstr>In this video, we’re going to take a look at…</vt:lpstr>
      <vt:lpstr>Common string types</vt:lpstr>
      <vt:lpstr>Error-handling mechanisms</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40</cp:revision>
  <dcterms:modified xsi:type="dcterms:W3CDTF">2017-04-29T16:27:11Z</dcterms:modified>
</cp:coreProperties>
</file>