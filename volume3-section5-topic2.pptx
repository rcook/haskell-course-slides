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9"/>
  </p:notesMasterIdLst>
  <p:sldIdLst>
    <p:sldId id="258" r:id="rId3"/>
    <p:sldId id="270" r:id="rId4"/>
    <p:sldId id="271" r:id="rId5"/>
    <p:sldId id="273" r:id="rId6"/>
    <p:sldId id="272" r:id="rId7"/>
    <p:sldId id="269"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7840" autoAdjust="0"/>
  </p:normalViewPr>
  <p:slideViewPr>
    <p:cSldViewPr>
      <p:cViewPr varScale="1">
        <p:scale>
          <a:sx n="81" d="100"/>
          <a:sy n="81" d="100"/>
        </p:scale>
        <p:origin x="1266" y="9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554421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4092100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456356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theme" Target="../theme/theme2.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hyperlink" Target="http://haskellbook.com/" TargetMode="External"/><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hyperlink" Target="http://book.realworldhaskell.org/read/"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Wrapping up</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Conclusions</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What we’ve learnt</a:t>
            </a:r>
          </a:p>
          <a:p>
            <a:pPr marL="457200" lvl="0" indent="-355600" rtl="0">
              <a:spcBef>
                <a:spcPts val="0"/>
              </a:spcBef>
              <a:buClr>
                <a:srgbClr val="434343"/>
              </a:buClr>
              <a:buSzPct val="100000"/>
              <a:buChar char="●"/>
            </a:pPr>
            <a:r>
              <a:rPr lang="en-US" sz="2000" dirty="0">
                <a:solidFill>
                  <a:srgbClr val="434343"/>
                </a:solidFill>
              </a:rPr>
              <a:t>Haskell learning resources</a:t>
            </a:r>
          </a:p>
        </p:txBody>
      </p:sp>
    </p:spTree>
    <p:extLst>
      <p:ext uri="{BB962C8B-B14F-4D97-AF65-F5344CB8AC3E}">
        <p14:creationId xmlns:p14="http://schemas.microsoft.com/office/powerpoint/2010/main" val="65917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What we’ve learnt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Built a real application on our foundational knowledge of Haskell</a:t>
            </a:r>
          </a:p>
          <a:p>
            <a:pPr marL="457200" lvl="0" indent="-355600" rtl="0">
              <a:spcBef>
                <a:spcPts val="0"/>
              </a:spcBef>
              <a:buClr>
                <a:srgbClr val="434343"/>
              </a:buClr>
              <a:buSzPct val="100000"/>
              <a:buChar char="●"/>
            </a:pPr>
            <a:r>
              <a:rPr lang="en-US" sz="2000" dirty="0">
                <a:solidFill>
                  <a:srgbClr val="434343"/>
                </a:solidFill>
              </a:rPr>
              <a:t>Type-directed development</a:t>
            </a:r>
          </a:p>
          <a:p>
            <a:pPr marL="457200" lvl="0" indent="-355600" rtl="0">
              <a:spcBef>
                <a:spcPts val="0"/>
              </a:spcBef>
              <a:buClr>
                <a:srgbClr val="434343"/>
              </a:buClr>
              <a:buSzPct val="100000"/>
              <a:buChar char="●"/>
            </a:pPr>
            <a:r>
              <a:rPr lang="en-US" sz="2000" dirty="0">
                <a:solidFill>
                  <a:srgbClr val="434343"/>
                </a:solidFill>
              </a:rPr>
              <a:t>High-quality type-driven parsing and serialization</a:t>
            </a:r>
          </a:p>
          <a:p>
            <a:pPr marL="457200" lvl="0" indent="-355600" rtl="0">
              <a:spcBef>
                <a:spcPts val="0"/>
              </a:spcBef>
              <a:buClr>
                <a:srgbClr val="434343"/>
              </a:buClr>
              <a:buSzPct val="100000"/>
              <a:buChar char="●"/>
            </a:pPr>
            <a:r>
              <a:rPr lang="en-US" sz="2000" dirty="0">
                <a:solidFill>
                  <a:srgbClr val="434343"/>
                </a:solidFill>
              </a:rPr>
              <a:t>Lazy vs. strict I/O</a:t>
            </a:r>
          </a:p>
          <a:p>
            <a:pPr marL="457200" lvl="0" indent="-355600" rtl="0">
              <a:spcBef>
                <a:spcPts val="0"/>
              </a:spcBef>
              <a:buClr>
                <a:srgbClr val="434343"/>
              </a:buClr>
              <a:buSzPct val="100000"/>
              <a:buChar char="●"/>
            </a:pPr>
            <a:r>
              <a:rPr lang="en-US" sz="2000" dirty="0">
                <a:solidFill>
                  <a:srgbClr val="434343"/>
                </a:solidFill>
              </a:rPr>
              <a:t>How our application might evolve over time</a:t>
            </a:r>
          </a:p>
        </p:txBody>
      </p:sp>
    </p:spTree>
    <p:extLst>
      <p:ext uri="{BB962C8B-B14F-4D97-AF65-F5344CB8AC3E}">
        <p14:creationId xmlns:p14="http://schemas.microsoft.com/office/powerpoint/2010/main" val="1364139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Your Haskell learning path</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Write code</a:t>
            </a:r>
          </a:p>
          <a:p>
            <a:pPr marL="457200" lvl="0" indent="-355600" rtl="0">
              <a:spcBef>
                <a:spcPts val="0"/>
              </a:spcBef>
              <a:buClr>
                <a:srgbClr val="434343"/>
              </a:buClr>
              <a:buSzPct val="100000"/>
              <a:buChar char="●"/>
            </a:pPr>
            <a:r>
              <a:rPr lang="en-US" sz="2000" dirty="0">
                <a:solidFill>
                  <a:srgbClr val="434343"/>
                </a:solidFill>
              </a:rPr>
              <a:t>Write more code</a:t>
            </a:r>
          </a:p>
          <a:p>
            <a:pPr marL="457200" lvl="0" indent="-355600" rtl="0">
              <a:spcBef>
                <a:spcPts val="0"/>
              </a:spcBef>
              <a:buClr>
                <a:srgbClr val="434343"/>
              </a:buClr>
              <a:buSzPct val="100000"/>
              <a:buChar char="●"/>
            </a:pPr>
            <a:r>
              <a:rPr lang="en-US" sz="2000" dirty="0">
                <a:solidFill>
                  <a:srgbClr val="434343"/>
                </a:solidFill>
              </a:rPr>
              <a:t>Keeping writing code!</a:t>
            </a:r>
          </a:p>
          <a:p>
            <a:pPr marL="457200" lvl="0" indent="-355600" rtl="0">
              <a:spcBef>
                <a:spcPts val="0"/>
              </a:spcBef>
              <a:buClr>
                <a:srgbClr val="434343"/>
              </a:buClr>
              <a:buSzPct val="100000"/>
              <a:buChar char="●"/>
            </a:pPr>
            <a:r>
              <a:rPr lang="en-US" sz="2000" dirty="0">
                <a:solidFill>
                  <a:srgbClr val="434343"/>
                </a:solidFill>
              </a:rPr>
              <a:t>Work on projects of interest to you</a:t>
            </a:r>
          </a:p>
          <a:p>
            <a:pPr marL="457200" lvl="0" indent="-355600" rtl="0">
              <a:spcBef>
                <a:spcPts val="0"/>
              </a:spcBef>
              <a:buClr>
                <a:srgbClr val="434343"/>
              </a:buClr>
              <a:buSzPct val="100000"/>
              <a:buChar char="●"/>
            </a:pPr>
            <a:r>
              <a:rPr lang="en-US" sz="2000" dirty="0">
                <a:solidFill>
                  <a:srgbClr val="434343"/>
                </a:solidFill>
              </a:rPr>
              <a:t>Document your progress and </a:t>
            </a:r>
            <a:r>
              <a:rPr lang="en-US" sz="2000">
                <a:solidFill>
                  <a:srgbClr val="434343"/>
                </a:solidFill>
              </a:rPr>
              <a:t>stumbling blocks</a:t>
            </a:r>
            <a:endParaRPr lang="en-US" sz="2000" dirty="0">
              <a:solidFill>
                <a:srgbClr val="434343"/>
              </a:solidFill>
            </a:endParaRPr>
          </a:p>
          <a:p>
            <a:pPr marL="457200" lvl="0" indent="-355600" rtl="0">
              <a:spcBef>
                <a:spcPts val="0"/>
              </a:spcBef>
              <a:buClr>
                <a:srgbClr val="434343"/>
              </a:buClr>
              <a:buSzPct val="100000"/>
              <a:buChar char="●"/>
            </a:pPr>
            <a:r>
              <a:rPr lang="en-US" sz="2000" dirty="0">
                <a:solidFill>
                  <a:srgbClr val="434343"/>
                </a:solidFill>
              </a:rPr>
              <a:t>Publish your efforts on GitHub and share it with the world</a:t>
            </a:r>
          </a:p>
        </p:txBody>
      </p:sp>
    </p:spTree>
    <p:extLst>
      <p:ext uri="{BB962C8B-B14F-4D97-AF65-F5344CB8AC3E}">
        <p14:creationId xmlns:p14="http://schemas.microsoft.com/office/powerpoint/2010/main" val="157467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Learning resources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dirty="0">
                <a:solidFill>
                  <a:srgbClr val="434343"/>
                </a:solidFill>
              </a:rPr>
              <a:t>“Haskell Programming from First Principles” (e-book)</a:t>
            </a:r>
            <a:br>
              <a:rPr lang="en-US" sz="2000" dirty="0">
                <a:solidFill>
                  <a:srgbClr val="434343"/>
                </a:solidFill>
              </a:rPr>
            </a:br>
            <a:r>
              <a:rPr lang="en-US" sz="2000" dirty="0">
                <a:solidFill>
                  <a:srgbClr val="434343"/>
                </a:solidFill>
              </a:rPr>
              <a:t>By Chris Allen and Julie </a:t>
            </a:r>
            <a:r>
              <a:rPr lang="en-US" sz="2000" dirty="0" err="1">
                <a:solidFill>
                  <a:srgbClr val="434343"/>
                </a:solidFill>
              </a:rPr>
              <a:t>Moronuki</a:t>
            </a:r>
            <a:br>
              <a:rPr lang="en-US" sz="2000" dirty="0">
                <a:solidFill>
                  <a:srgbClr val="434343"/>
                </a:solidFill>
              </a:rPr>
            </a:br>
            <a:r>
              <a:rPr lang="en-US" sz="2000" dirty="0">
                <a:solidFill>
                  <a:srgbClr val="434343"/>
                </a:solidFill>
                <a:hlinkClick r:id="rId3"/>
              </a:rPr>
              <a:t>http://haskellbook.com/</a:t>
            </a:r>
            <a:br>
              <a:rPr lang="en-US" sz="2000" dirty="0">
                <a:solidFill>
                  <a:srgbClr val="434343"/>
                </a:solidFill>
              </a:rPr>
            </a:br>
            <a:r>
              <a:rPr lang="en-US" sz="2000" dirty="0">
                <a:solidFill>
                  <a:srgbClr val="434343"/>
                </a:solidFill>
              </a:rPr>
              <a:t>Commonly referred to as “Haskell Book”</a:t>
            </a:r>
          </a:p>
          <a:p>
            <a:pPr marL="457200" lvl="0" indent="-355600">
              <a:buClr>
                <a:srgbClr val="434343"/>
              </a:buClr>
              <a:buChar char="●"/>
            </a:pPr>
            <a:r>
              <a:rPr lang="en-US" sz="2000" dirty="0">
                <a:solidFill>
                  <a:srgbClr val="434343"/>
                </a:solidFill>
              </a:rPr>
              <a:t>“Real World Haskell” (book and freely available online version)</a:t>
            </a:r>
            <a:br>
              <a:rPr lang="en-US" sz="2000" dirty="0">
                <a:solidFill>
                  <a:srgbClr val="434343"/>
                </a:solidFill>
              </a:rPr>
            </a:br>
            <a:r>
              <a:rPr lang="en-US" sz="2000" dirty="0">
                <a:solidFill>
                  <a:srgbClr val="434343"/>
                </a:solidFill>
              </a:rPr>
              <a:t>By Bryan O’Sullivan, Don Stewart and John </a:t>
            </a:r>
            <a:r>
              <a:rPr lang="en-US" sz="2000" dirty="0" err="1">
                <a:solidFill>
                  <a:srgbClr val="434343"/>
                </a:solidFill>
              </a:rPr>
              <a:t>Goerzen</a:t>
            </a:r>
            <a:br>
              <a:rPr lang="en-US" sz="2000" dirty="0">
                <a:solidFill>
                  <a:srgbClr val="434343"/>
                </a:solidFill>
              </a:rPr>
            </a:br>
            <a:r>
              <a:rPr lang="en-US" sz="2000" dirty="0">
                <a:solidFill>
                  <a:srgbClr val="434343"/>
                </a:solidFill>
                <a:hlinkClick r:id="rId4"/>
              </a:rPr>
              <a:t>http://book.realworldhaskell.org/read/</a:t>
            </a:r>
            <a:endParaRPr lang="en-US" sz="2000" dirty="0">
              <a:solidFill>
                <a:srgbClr val="434343"/>
              </a:solidFill>
            </a:endParaRPr>
          </a:p>
        </p:txBody>
      </p:sp>
    </p:spTree>
    <p:extLst>
      <p:ext uri="{BB962C8B-B14F-4D97-AF65-F5344CB8AC3E}">
        <p14:creationId xmlns:p14="http://schemas.microsoft.com/office/powerpoint/2010/main" val="1864552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Thank you</a:t>
            </a:r>
            <a:endParaRPr lang="en" dirty="0"/>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Building an Application with Haskell</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266</TotalTime>
  <Words>262</Words>
  <Application>Microsoft Office PowerPoint</Application>
  <PresentationFormat>On-screen Show (16:9)</PresentationFormat>
  <Paragraphs>31</Paragraphs>
  <Slides>6</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vt:i4>
      </vt:variant>
    </vt:vector>
  </HeadingPairs>
  <TitlesOfParts>
    <vt:vector size="12" baseType="lpstr">
      <vt:lpstr>Arial</vt:lpstr>
      <vt:lpstr>Calibri</vt:lpstr>
      <vt:lpstr>Roboto</vt:lpstr>
      <vt:lpstr>Wingdings</vt:lpstr>
      <vt:lpstr>Packt</vt:lpstr>
      <vt:lpstr>Packt</vt:lpstr>
      <vt:lpstr>Wrapping up</vt:lpstr>
      <vt:lpstr>In this video, we’re going to take a look at…</vt:lpstr>
      <vt:lpstr>What we’ve learnt</vt:lpstr>
      <vt:lpstr>Your Haskell learning path</vt:lpstr>
      <vt:lpstr>Learning resources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33</cp:revision>
  <dcterms:modified xsi:type="dcterms:W3CDTF">2017-07-30T17:51:12Z</dcterms:modified>
</cp:coreProperties>
</file>