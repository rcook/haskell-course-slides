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3"/>
    <p:restoredTop sz="94375"/>
  </p:normalViewPr>
  <p:slideViewPr>
    <p:cSldViewPr snapToGrid="0">
      <p:cViewPr>
        <p:scale>
          <a:sx n="80" d="100"/>
          <a:sy n="80" d="100"/>
        </p:scale>
        <p:origin x="1072" y="56"/>
      </p:cViewPr>
      <p:guideLst>
        <p:guide orient="horz" pos="34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1FB03D-733B-7D40-B95F-8EDE9320E656}" type="datetimeFigureOut">
              <a:rPr lang="en-US" smtClean="0"/>
              <a:t>3/12/17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96012F-7B2C-9F49-8090-235790DC7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78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6012F-7B2C-9F49-8090-235790DC79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2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6012F-7B2C-9F49-8090-235790DC79D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59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6012F-7B2C-9F49-8090-235790DC79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56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6012F-7B2C-9F49-8090-235790DC79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265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4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3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3/12/17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92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3/12/17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2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295893" y="1893679"/>
            <a:ext cx="10284814" cy="574434"/>
          </a:xfrm>
          <a:prstGeom prst="rect">
            <a:avLst/>
          </a:prstGeom>
          <a:noFill/>
        </p:spPr>
        <p:txBody>
          <a:bodyPr wrap="square" lIns="60941" tIns="30471" rIns="60941" bIns="30471">
            <a:spAutoFit/>
          </a:bodyPr>
          <a:lstStyle/>
          <a:p>
            <a:pPr defTabSz="1088268"/>
            <a:r>
              <a:rPr lang="en-IN" sz="3333" dirty="0" smtClean="0">
                <a:solidFill>
                  <a:prstClr val="white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  <a:endParaRPr lang="en-IN" sz="3333" dirty="0">
              <a:solidFill>
                <a:prstClr val="white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1295893" y="2916520"/>
            <a:ext cx="8254370" cy="0"/>
          </a:xfrm>
          <a:prstGeom prst="line">
            <a:avLst/>
          </a:prstGeom>
          <a:noFill/>
          <a:ln w="19050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20" name="Rectangle 19"/>
          <p:cNvSpPr/>
          <p:nvPr/>
        </p:nvSpPr>
        <p:spPr>
          <a:xfrm>
            <a:off x="1295893" y="3054406"/>
            <a:ext cx="7535700" cy="502555"/>
          </a:xfrm>
          <a:prstGeom prst="rect">
            <a:avLst/>
          </a:prstGeom>
          <a:noFill/>
        </p:spPr>
        <p:txBody>
          <a:bodyPr wrap="square" lIns="60941" tIns="30471" rIns="60941" bIns="30471">
            <a:spAutoFit/>
          </a:bodyPr>
          <a:lstStyle/>
          <a:p>
            <a:pPr algn="r" defTabSz="1088268"/>
            <a:r>
              <a:rPr lang="en-US" sz="2866" b="1" i="1" dirty="0" smtClean="0">
                <a:ln w="18415" cmpd="sng">
                  <a:noFill/>
                  <a:prstDash val="solid"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Richard Cook</a:t>
            </a:r>
            <a:endParaRPr lang="en-US" sz="2866" b="1" i="1" dirty="0">
              <a:ln w="18415" cmpd="sng">
                <a:noFill/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4023" y="6139552"/>
            <a:ext cx="3743261" cy="438114"/>
          </a:xfrm>
          <a:prstGeom prst="rect">
            <a:avLst/>
          </a:prstGeom>
          <a:noFill/>
        </p:spPr>
        <p:txBody>
          <a:bodyPr wrap="square" lIns="108822" tIns="54410" rIns="108822" bIns="54410" rtlCol="0">
            <a:spAutoFit/>
          </a:bodyPr>
          <a:lstStyle/>
          <a:p>
            <a:pPr defTabSz="1088268">
              <a:defRPr/>
            </a:pPr>
            <a:r>
              <a:rPr lang="en-US" sz="2133" kern="0" dirty="0">
                <a:solidFill>
                  <a:prstClr val="white"/>
                </a:solidFill>
              </a:rPr>
              <a:t>www.packtpub.com</a:t>
            </a:r>
            <a:endParaRPr lang="en-IN" sz="2133" kern="0" dirty="0">
              <a:solidFill>
                <a:prstClr val="white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423" y="3314129"/>
            <a:ext cx="2679700" cy="1892300"/>
          </a:xfrm>
          <a:prstGeom prst="rect">
            <a:avLst/>
          </a:prstGeom>
          <a:ln w="231775">
            <a:solidFill>
              <a:schemeClr val="bg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659863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smtClean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About Me</a:t>
            </a:r>
            <a:endParaRPr lang="en-US" sz="3599" kern="0" dirty="0">
              <a:ln w="18415" cmpd="sng">
                <a:noFill/>
                <a:prstDash val="solid"/>
              </a:ln>
              <a:solidFill>
                <a:prstClr val="black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3432713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Seventeen years’ industry </a:t>
            </a: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experience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Organizer of Seattle Area Haskell Users’ Group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Open-source maintainer and contributor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Interested in machine </a:t>
            </a: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learning</a:t>
            </a:r>
            <a:endParaRPr lang="en-US" sz="2399" dirty="0" smtClean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Musician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4" y="5537200"/>
            <a:ext cx="12190354" cy="1320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353022" y="5963514"/>
            <a:ext cx="1685964" cy="468173"/>
            <a:chOff x="219456" y="5963514"/>
            <a:chExt cx="1685964" cy="468173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56" y="5963514"/>
              <a:ext cx="468173" cy="468173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758952" y="6012934"/>
              <a:ext cx="1146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charset="0"/>
                  <a:ea typeface="Arial" charset="0"/>
                  <a:cs typeface="Arial" charset="0"/>
                </a:rPr>
                <a:t>r</a:t>
              </a:r>
              <a:r>
                <a:rPr lang="en-US" dirty="0" err="1" smtClean="0">
                  <a:latin typeface="Arial" charset="0"/>
                  <a:ea typeface="Arial" charset="0"/>
                  <a:cs typeface="Arial" charset="0"/>
                </a:rPr>
                <a:t>cook.org</a:t>
              </a:r>
              <a:endParaRPr lang="en-US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136902" y="5972517"/>
            <a:ext cx="2481053" cy="450166"/>
            <a:chOff x="219456" y="5972517"/>
            <a:chExt cx="2481053" cy="450166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56" y="5972517"/>
              <a:ext cx="450166" cy="450166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758952" y="6012934"/>
              <a:ext cx="1941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charset="0"/>
                  <a:ea typeface="Arial" charset="0"/>
                  <a:cs typeface="Arial" charset="0"/>
                </a:rPr>
                <a:t>g</a:t>
              </a:r>
              <a:r>
                <a:rPr lang="en-US" dirty="0" err="1" smtClean="0">
                  <a:latin typeface="Arial" charset="0"/>
                  <a:ea typeface="Arial" charset="0"/>
                  <a:cs typeface="Arial" charset="0"/>
                </a:rPr>
                <a:t>ithub.com</a:t>
              </a:r>
              <a:r>
                <a:rPr lang="en-US" dirty="0" smtClean="0">
                  <a:latin typeface="Arial" charset="0"/>
                  <a:ea typeface="Arial" charset="0"/>
                  <a:cs typeface="Arial" charset="0"/>
                </a:rPr>
                <a:t>/</a:t>
              </a:r>
              <a:r>
                <a:rPr lang="en-US" dirty="0" err="1" smtClean="0">
                  <a:latin typeface="Arial" charset="0"/>
                  <a:ea typeface="Arial" charset="0"/>
                  <a:cs typeface="Arial" charset="0"/>
                </a:rPr>
                <a:t>rcook</a:t>
              </a:r>
              <a:endParaRPr lang="en-US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715871" y="5972517"/>
            <a:ext cx="2612499" cy="450166"/>
            <a:chOff x="219456" y="5972517"/>
            <a:chExt cx="2612499" cy="450166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56" y="5972517"/>
              <a:ext cx="450166" cy="450166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758952" y="6012934"/>
              <a:ext cx="20730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Arial" charset="0"/>
                  <a:ea typeface="Arial" charset="0"/>
                  <a:cs typeface="Arial" charset="0"/>
                </a:rPr>
                <a:t>@</a:t>
              </a:r>
              <a:r>
                <a:rPr lang="en-US" dirty="0" err="1" smtClean="0">
                  <a:latin typeface="Arial" charset="0"/>
                  <a:ea typeface="Arial" charset="0"/>
                  <a:cs typeface="Arial" charset="0"/>
                </a:rPr>
                <a:t>richardthepeace</a:t>
              </a:r>
              <a:endParaRPr lang="en-US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9344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439744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 smtClean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  <a:endParaRPr lang="en-IN" sz="2399" spc="59" dirty="0">
              <a:ln w="12700" cmpd="sng">
                <a:noFill/>
                <a:prstDash val="solid"/>
              </a:ln>
              <a:solidFill>
                <a:prstClr val="white">
                  <a:lumMod val="75000"/>
                </a:prst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8042" y="1004720"/>
            <a:ext cx="7196487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 smtClean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  <a:endParaRPr lang="en-US" sz="1933" i="1" dirty="0">
              <a:ln w="18415" cmpd="sng">
                <a:noFill/>
                <a:prstDash val="solid"/>
              </a:ln>
              <a:solidFill>
                <a:prstClr val="white">
                  <a:lumMod val="75000"/>
                </a:prst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528042" y="3279936"/>
            <a:ext cx="9224430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 smtClean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Course Overview</a:t>
            </a:r>
            <a:endParaRPr lang="en-IN" sz="4266" i="1" dirty="0">
              <a:solidFill>
                <a:srgbClr val="F79646">
                  <a:lumMod val="75000"/>
                </a:srgb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0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 smtClean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Outline</a:t>
            </a:r>
            <a:endParaRPr lang="en-US" sz="3599" kern="0" dirty="0">
              <a:ln w="18415" cmpd="sng">
                <a:noFill/>
                <a:prstDash val="solid"/>
              </a:ln>
              <a:solidFill>
                <a:prstClr val="black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29" name="Oval 28"/>
          <p:cNvSpPr>
            <a:spLocks noChangeAspect="1"/>
          </p:cNvSpPr>
          <p:nvPr/>
        </p:nvSpPr>
        <p:spPr>
          <a:xfrm>
            <a:off x="498781" y="1607095"/>
            <a:ext cx="1097280" cy="109728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Problems that FP and Haskell can address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9" name="Oval 48"/>
          <p:cNvSpPr>
            <a:spLocks noChangeAspect="1"/>
          </p:cNvSpPr>
          <p:nvPr/>
        </p:nvSpPr>
        <p:spPr>
          <a:xfrm>
            <a:off x="1417992" y="1607095"/>
            <a:ext cx="1097280" cy="109728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The FP Way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0" name="Oval 49"/>
          <p:cNvSpPr>
            <a:spLocks noChangeAspect="1"/>
          </p:cNvSpPr>
          <p:nvPr/>
        </p:nvSpPr>
        <p:spPr>
          <a:xfrm>
            <a:off x="2337203" y="1607095"/>
            <a:ext cx="1097280" cy="109728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The Haskell Way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4" name="Oval 53"/>
          <p:cNvSpPr>
            <a:spLocks noChangeAspect="1"/>
          </p:cNvSpPr>
          <p:nvPr/>
        </p:nvSpPr>
        <p:spPr>
          <a:xfrm>
            <a:off x="3256414" y="1607095"/>
            <a:ext cx="1097280" cy="109728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Our first Haskell programs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5" name="Oval 54"/>
          <p:cNvSpPr>
            <a:spLocks noChangeAspect="1"/>
          </p:cNvSpPr>
          <p:nvPr/>
        </p:nvSpPr>
        <p:spPr>
          <a:xfrm>
            <a:off x="4175625" y="1607095"/>
            <a:ext cx="1097280" cy="109728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Whitespace, layout and scoping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6" name="Oval 55"/>
          <p:cNvSpPr>
            <a:spLocks noChangeAspect="1"/>
          </p:cNvSpPr>
          <p:nvPr/>
        </p:nvSpPr>
        <p:spPr>
          <a:xfrm>
            <a:off x="5094836" y="1607095"/>
            <a:ext cx="1097280" cy="109728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GHCi and interactive Haskell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7" name="Oval 56"/>
          <p:cNvSpPr>
            <a:spLocks noChangeAspect="1"/>
          </p:cNvSpPr>
          <p:nvPr/>
        </p:nvSpPr>
        <p:spPr>
          <a:xfrm>
            <a:off x="6014047" y="1607095"/>
            <a:ext cx="1097280" cy="109728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Debugging with GHCi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9" name="Oval 58"/>
          <p:cNvSpPr>
            <a:spLocks noChangeAspect="1"/>
          </p:cNvSpPr>
          <p:nvPr/>
        </p:nvSpPr>
        <p:spPr>
          <a:xfrm>
            <a:off x="6933258" y="1607095"/>
            <a:ext cx="1097280" cy="109728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Values and expressions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0" name="Oval 59"/>
          <p:cNvSpPr>
            <a:spLocks noChangeAspect="1"/>
          </p:cNvSpPr>
          <p:nvPr/>
        </p:nvSpPr>
        <p:spPr>
          <a:xfrm>
            <a:off x="7852469" y="1607095"/>
            <a:ext cx="1097280" cy="109728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Types and type signatures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1" name="Oval 60"/>
          <p:cNvSpPr>
            <a:spLocks noChangeAspect="1"/>
          </p:cNvSpPr>
          <p:nvPr/>
        </p:nvSpPr>
        <p:spPr>
          <a:xfrm>
            <a:off x="8771680" y="1607095"/>
            <a:ext cx="1097280" cy="109728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Algebraic data types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2" name="Oval 61"/>
          <p:cNvSpPr>
            <a:spLocks noChangeAspect="1"/>
          </p:cNvSpPr>
          <p:nvPr/>
        </p:nvSpPr>
        <p:spPr>
          <a:xfrm>
            <a:off x="9690891" y="1607095"/>
            <a:ext cx="1097280" cy="109728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Type classes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3" name="Oval 62"/>
          <p:cNvSpPr>
            <a:spLocks noChangeAspect="1"/>
          </p:cNvSpPr>
          <p:nvPr/>
        </p:nvSpPr>
        <p:spPr>
          <a:xfrm>
            <a:off x="10610102" y="1607095"/>
            <a:ext cx="1097280" cy="109728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Pattern matching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4472" y="3015796"/>
            <a:ext cx="26643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bg2"/>
                </a:solidFill>
              </a:rPr>
              <a:t>The FP and Haskell Buzz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194525" y="3015796"/>
            <a:ext cx="1950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bg2"/>
                </a:solidFill>
              </a:rPr>
              <a:t>Exploring Haskell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198992" y="3015796"/>
            <a:ext cx="1874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bg2"/>
                </a:solidFill>
              </a:rPr>
              <a:t>Haskell in Depth</a:t>
            </a:r>
            <a:endParaRPr 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14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0C8C8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0C8C8"/>
                                      </p:to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0C8C8"/>
                                      </p:to>
                                    </p:animClr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F0C8"/>
                                      </p:to>
                                    </p:animClr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F0C8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F0C8"/>
                                      </p:to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F0C8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C8F0"/>
                                      </p:to>
                                    </p:animClr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C8F0"/>
                                      </p:to>
                                    </p:animClr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C8F0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C8F0"/>
                                      </p:to>
                                    </p:animClr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C8F0"/>
                                      </p:to>
                                    </p:animClr>
                                    <p:set>
                                      <p:cBhvr>
                                        <p:cTn id="10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7" dur="500" fill="hold"/>
                                        <p:tgtEl>
                                          <p:spTgt spid="29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8" dur="500" fill="hold"/>
                                        <p:tgtEl>
                                          <p:spTgt spid="29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1" dur="500" fill="hold"/>
                                        <p:tgtEl>
                                          <p:spTgt spid="49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3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2" dur="500" fill="hold"/>
                                        <p:tgtEl>
                                          <p:spTgt spid="49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5" dur="500" fill="hold"/>
                                        <p:tgtEl>
                                          <p:spTgt spid="50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6" dur="500" fill="hold"/>
                                        <p:tgtEl>
                                          <p:spTgt spid="50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9" dur="500" fill="hold"/>
                                        <p:tgtEl>
                                          <p:spTgt spid="54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000"/>
                            </p:stCondLst>
                            <p:childTnLst>
                              <p:par>
                                <p:cTn id="181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0" dur="500" fill="hold"/>
                                        <p:tgtEl>
                                          <p:spTgt spid="54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00"/>
                            </p:stCondLst>
                            <p:childTnLst>
                              <p:par>
                                <p:cTn id="192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3" dur="500" fill="hold"/>
                                        <p:tgtEl>
                                          <p:spTgt spid="55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000"/>
                            </p:stCondLst>
                            <p:childTnLst>
                              <p:par>
                                <p:cTn id="195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4" dur="500" fill="hold"/>
                                        <p:tgtEl>
                                          <p:spTgt spid="55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7" dur="500" fill="hold"/>
                                        <p:tgtEl>
                                          <p:spTgt spid="56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1000"/>
                            </p:stCondLst>
                            <p:childTnLst>
                              <p:par>
                                <p:cTn id="209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8" dur="500" fill="hold"/>
                                        <p:tgtEl>
                                          <p:spTgt spid="56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00"/>
                            </p:stCondLst>
                            <p:childTnLst>
                              <p:par>
                                <p:cTn id="220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1" dur="500" fill="hold"/>
                                        <p:tgtEl>
                                          <p:spTgt spid="57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23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2" dur="500" fill="hold"/>
                                        <p:tgtEl>
                                          <p:spTgt spid="57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500"/>
                            </p:stCondLst>
                            <p:childTnLst>
                              <p:par>
                                <p:cTn id="234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5" dur="500" fill="hold"/>
                                        <p:tgtEl>
                                          <p:spTgt spid="59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1000"/>
                            </p:stCondLst>
                            <p:childTnLst>
                              <p:par>
                                <p:cTn id="237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6" dur="500" fill="hold"/>
                                        <p:tgtEl>
                                          <p:spTgt spid="59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"/>
                            </p:stCondLst>
                            <p:childTnLst>
                              <p:par>
                                <p:cTn id="248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9" dur="500" fill="hold"/>
                                        <p:tgtEl>
                                          <p:spTgt spid="60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1000"/>
                            </p:stCondLst>
                            <p:childTnLst>
                              <p:par>
                                <p:cTn id="251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0" dur="500" fill="hold"/>
                                        <p:tgtEl>
                                          <p:spTgt spid="60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500"/>
                            </p:stCondLst>
                            <p:childTnLst>
                              <p:par>
                                <p:cTn id="262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3" dur="500" fill="hold"/>
                                        <p:tgtEl>
                                          <p:spTgt spid="61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000"/>
                            </p:stCondLst>
                            <p:childTnLst>
                              <p:par>
                                <p:cTn id="265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4" dur="500" fill="hold"/>
                                        <p:tgtEl>
                                          <p:spTgt spid="61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500"/>
                            </p:stCondLst>
                            <p:childTnLst>
                              <p:par>
                                <p:cTn id="276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7" dur="500" fill="hold"/>
                                        <p:tgtEl>
                                          <p:spTgt spid="62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1000"/>
                            </p:stCondLst>
                            <p:childTnLst>
                              <p:par>
                                <p:cTn id="279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8" dur="500" fill="hold"/>
                                        <p:tgtEl>
                                          <p:spTgt spid="62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500"/>
                            </p:stCondLst>
                            <p:childTnLst>
                              <p:par>
                                <p:cTn id="290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1" dur="500" fill="hold"/>
                                        <p:tgtEl>
                                          <p:spTgt spid="6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1000"/>
                            </p:stCondLst>
                            <p:childTnLst>
                              <p:par>
                                <p:cTn id="293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9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2" dur="500" fill="hold"/>
                                        <p:tgtEl>
                                          <p:spTgt spid="63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  <p:bldP spid="29" grpId="2" animBg="1"/>
      <p:bldP spid="29" grpId="3" animBg="1"/>
      <p:bldP spid="49" grpId="0" animBg="1"/>
      <p:bldP spid="49" grpId="1" animBg="1"/>
      <p:bldP spid="49" grpId="2" animBg="1"/>
      <p:bldP spid="49" grpId="3" animBg="1"/>
      <p:bldP spid="50" grpId="0" animBg="1"/>
      <p:bldP spid="50" grpId="1" animBg="1"/>
      <p:bldP spid="50" grpId="2" animBg="1"/>
      <p:bldP spid="50" grpId="3" animBg="1"/>
      <p:bldP spid="54" grpId="0" animBg="1"/>
      <p:bldP spid="54" grpId="1" animBg="1"/>
      <p:bldP spid="54" grpId="2" animBg="1"/>
      <p:bldP spid="54" grpId="3" animBg="1"/>
      <p:bldP spid="55" grpId="0" animBg="1"/>
      <p:bldP spid="55" grpId="1" animBg="1"/>
      <p:bldP spid="55" grpId="2" animBg="1"/>
      <p:bldP spid="55" grpId="3" animBg="1"/>
      <p:bldP spid="56" grpId="0" animBg="1"/>
      <p:bldP spid="56" grpId="1" animBg="1"/>
      <p:bldP spid="56" grpId="2" animBg="1"/>
      <p:bldP spid="56" grpId="3" animBg="1"/>
      <p:bldP spid="57" grpId="0" animBg="1"/>
      <p:bldP spid="57" grpId="1" animBg="1"/>
      <p:bldP spid="57" grpId="2" animBg="1"/>
      <p:bldP spid="57" grpId="3" animBg="1"/>
      <p:bldP spid="59" grpId="0" animBg="1"/>
      <p:bldP spid="59" grpId="1" animBg="1"/>
      <p:bldP spid="59" grpId="2" animBg="1"/>
      <p:bldP spid="59" grpId="3" animBg="1"/>
      <p:bldP spid="60" grpId="0" animBg="1"/>
      <p:bldP spid="60" grpId="1" animBg="1"/>
      <p:bldP spid="60" grpId="2" animBg="1"/>
      <p:bldP spid="60" grpId="3" animBg="1"/>
      <p:bldP spid="61" grpId="0" animBg="1"/>
      <p:bldP spid="61" grpId="1" animBg="1"/>
      <p:bldP spid="61" grpId="2" animBg="1"/>
      <p:bldP spid="61" grpId="3" animBg="1"/>
      <p:bldP spid="62" grpId="0" animBg="1"/>
      <p:bldP spid="62" grpId="1" animBg="1"/>
      <p:bldP spid="62" grpId="2" animBg="1"/>
      <p:bldP spid="62" grpId="3" animBg="1"/>
      <p:bldP spid="63" grpId="0" animBg="1"/>
      <p:bldP spid="63" grpId="1" animBg="1"/>
      <p:bldP spid="63" grpId="2" animBg="1"/>
      <p:bldP spid="63" grpId="3" animBg="1"/>
      <p:bldP spid="4" grpId="0"/>
      <p:bldP spid="4" grpId="1"/>
      <p:bldP spid="4" grpId="2"/>
      <p:bldP spid="64" grpId="0"/>
      <p:bldP spid="64" grpId="1"/>
      <p:bldP spid="64" grpId="2"/>
      <p:bldP spid="6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 smtClean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What You’ll Learn</a:t>
            </a:r>
            <a:endParaRPr lang="en-US" sz="3599" kern="0" dirty="0">
              <a:ln w="18415" cmpd="sng">
                <a:noFill/>
                <a:prstDash val="solid"/>
              </a:ln>
              <a:solidFill>
                <a:prstClr val="black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1955899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Practical working knowledge of Haskell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Knowledge of </a:t>
            </a: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how Haskell can help us solve problems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Knowledge of values, expressions and types in Haskell</a:t>
            </a:r>
            <a:endParaRPr lang="en-US" sz="2399" dirty="0" smtClean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25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 smtClean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Prerequisites</a:t>
            </a:r>
            <a:endParaRPr lang="en-US" sz="3599" kern="0" dirty="0">
              <a:ln w="18415" cmpd="sng">
                <a:noFill/>
                <a:prstDash val="solid"/>
              </a:ln>
              <a:solidFill>
                <a:prstClr val="black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1955899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Familiarity with </a:t>
            </a: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an object-oriented language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The Haskell Stack build tool</a:t>
            </a:r>
            <a:endParaRPr lang="en-US" sz="2399" dirty="0" smtClean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Comfort with the Windows, Linux or </a:t>
            </a:r>
            <a:r>
              <a:rPr lang="en-US" sz="2399" dirty="0" err="1" smtClean="0">
                <a:solidFill>
                  <a:prstClr val="white"/>
                </a:solidFill>
                <a:latin typeface="Segoe UI Light" panose="020B0502040204020203" pitchFamily="34" charset="0"/>
              </a:rPr>
              <a:t>macOS</a:t>
            </a: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 command line</a:t>
            </a:r>
          </a:p>
        </p:txBody>
      </p:sp>
    </p:spTree>
    <p:extLst>
      <p:ext uri="{BB962C8B-B14F-4D97-AF65-F5344CB8AC3E}">
        <p14:creationId xmlns:p14="http://schemas.microsoft.com/office/powerpoint/2010/main" val="274227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53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150</Words>
  <Application>Microsoft Macintosh PowerPoint</Application>
  <PresentationFormat>Widescreen</PresentationFormat>
  <Paragraphs>51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Century Gothic</vt:lpstr>
      <vt:lpstr>Gisha</vt:lpstr>
      <vt:lpstr>Segoe UI Light</vt:lpstr>
      <vt:lpstr>Arial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 Hule</dc:creator>
  <cp:lastModifiedBy>Richard Cook</cp:lastModifiedBy>
  <cp:revision>67</cp:revision>
  <dcterms:created xsi:type="dcterms:W3CDTF">2015-06-11T06:54:04Z</dcterms:created>
  <dcterms:modified xsi:type="dcterms:W3CDTF">2017-03-12T17:20:36Z</dcterms:modified>
</cp:coreProperties>
</file>