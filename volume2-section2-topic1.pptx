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11"/>
  </p:notesMasterIdLst>
  <p:sldIdLst>
    <p:sldId id="270" r:id="rId3"/>
    <p:sldId id="271" r:id="rId4"/>
    <p:sldId id="258" r:id="rId5"/>
    <p:sldId id="272" r:id="rId6"/>
    <p:sldId id="273" r:id="rId7"/>
    <p:sldId id="274" r:id="rId8"/>
    <p:sldId id="275" r:id="rId9"/>
    <p:sldId id="269"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108" d="100"/>
          <a:sy n="108" d="100"/>
        </p:scale>
        <p:origin x="80" y="2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The name of</a:t>
            </a:r>
            <a:r>
              <a:rPr lang="en-US" baseline="0" dirty="0"/>
              <a:t> the section would be mentioned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a:t>
            </a:r>
            <a:r>
              <a:rPr lang="en-US" baseline="0" dirty="0"/>
              <a:t> Slide]</a:t>
            </a:r>
          </a:p>
          <a:p>
            <a:pPr lvl="0" rtl="0">
              <a:spcBef>
                <a:spcPts val="0"/>
              </a:spcBef>
              <a:buNone/>
            </a:pPr>
            <a:r>
              <a:rPr lang="en-US" dirty="0"/>
              <a:t>This is a sort of a road map to</a:t>
            </a:r>
            <a:r>
              <a:rPr lang="en-US" baseline="0" dirty="0"/>
              <a:t> get introduced to the topics of the section and their title. Instead of putting them as straight bullets, we can show a learning path.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740611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262525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674618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99"/>
        <p:cNvGrpSpPr/>
        <p:nvPr/>
      </p:nvGrpSpPr>
      <p:grpSpPr>
        <a:xfrm>
          <a:off x="0" y="0"/>
          <a:ext cx="0" cy="0"/>
          <a:chOff x="0" y="0"/>
          <a:chExt cx="0" cy="0"/>
        </a:xfrm>
      </p:grpSpPr>
      <p:sp>
        <p:nvSpPr>
          <p:cNvPr id="100" name="Shape 10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02" name="Shape 10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03" name="Shape 10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Standalone Introduction or Summary">
    <p:bg>
      <p:bgPr>
        <a:solidFill>
          <a:srgbClr val="F37021"/>
        </a:solidFill>
        <a:effectLst/>
      </p:bgPr>
    </p:bg>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2" r:id="rId3"/>
    <p:sldLayoutId id="2147483674" r:id="rId4"/>
    <p:sldLayoutId id="2147483679" r:id="rId5"/>
    <p:sldLayoutId id="2147483681" r:id="rId6"/>
    <p:sldLayoutId id="2147483683" r:id="rId7"/>
    <p:sldLayoutId id="2147483684" r:id="rId8"/>
    <p:sldLayoutId id="2147483685" r:id="rId9"/>
    <p:sldLayoutId id="2147483686" r:id="rId10"/>
    <p:sldLayoutId id="2147483687" r:id="rId11"/>
    <p:sldLayoutId id="2147483688" r:id="rId12"/>
    <p:sldLayoutId id="2147483689" r:id="rId13"/>
    <p:sldLayoutId id="214748369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460950" y="2065350"/>
            <a:ext cx="8222100" cy="1012800"/>
          </a:xfrm>
          <a:prstGeom prst="rect">
            <a:avLst/>
          </a:prstGeom>
        </p:spPr>
        <p:txBody>
          <a:bodyPr lIns="91425" tIns="91425" rIns="91425" bIns="91425" anchor="ctr" anchorCtr="0">
            <a:noAutofit/>
          </a:bodyPr>
          <a:lstStyle/>
          <a:p>
            <a:pPr lvl="0" rtl="0">
              <a:spcBef>
                <a:spcPts val="0"/>
              </a:spcBef>
              <a:buNone/>
            </a:pPr>
            <a:r>
              <a:rPr lang="en-US" dirty="0"/>
              <a:t>Modules explained</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93" name="Shape 193"/>
          <p:cNvSpPr txBox="1">
            <a:spLocks noGrp="1"/>
          </p:cNvSpPr>
          <p:nvPr>
            <p:ph type="title"/>
          </p:nvPr>
        </p:nvSpPr>
        <p:spPr>
          <a:xfrm>
            <a:off x="471900" y="738725"/>
            <a:ext cx="8222100" cy="767700"/>
          </a:xfrm>
          <a:prstGeom prst="rect">
            <a:avLst/>
          </a:prstGeom>
        </p:spPr>
        <p:txBody>
          <a:bodyPr lIns="91425" tIns="91425" rIns="91425" bIns="91425" anchor="b" anchorCtr="0">
            <a:noAutofit/>
          </a:bodyPr>
          <a:lstStyle/>
          <a:p>
            <a:pPr lvl="0" rtl="0">
              <a:spcBef>
                <a:spcPts val="0"/>
              </a:spcBef>
              <a:buNone/>
            </a:pPr>
            <a:r>
              <a:rPr lang="en" dirty="0"/>
              <a:t>What We’ll Learn</a:t>
            </a:r>
          </a:p>
        </p:txBody>
      </p:sp>
      <p:cxnSp>
        <p:nvCxnSpPr>
          <p:cNvPr id="178" name="Shape 178"/>
          <p:cNvCxnSpPr/>
          <p:nvPr/>
        </p:nvCxnSpPr>
        <p:spPr>
          <a:xfrm rot="10800000">
            <a:off x="680050" y="2153374"/>
            <a:ext cx="0" cy="1122600"/>
          </a:xfrm>
          <a:prstGeom prst="straightConnector1">
            <a:avLst/>
          </a:prstGeom>
          <a:noFill/>
          <a:ln w="9525" cap="flat" cmpd="sng">
            <a:solidFill>
              <a:schemeClr val="dk2"/>
            </a:solidFill>
            <a:prstDash val="solid"/>
            <a:round/>
            <a:headEnd type="none" w="lg" len="lg"/>
            <a:tailEnd type="oval" w="lg" len="lg"/>
          </a:ln>
        </p:spPr>
      </p:cxnSp>
      <p:sp>
        <p:nvSpPr>
          <p:cNvPr id="179" name="Shape 179"/>
          <p:cNvSpPr txBox="1">
            <a:spLocks noGrp="1"/>
          </p:cNvSpPr>
          <p:nvPr>
            <p:ph type="title"/>
          </p:nvPr>
        </p:nvSpPr>
        <p:spPr>
          <a:xfrm>
            <a:off x="727112" y="1995898"/>
            <a:ext cx="2778088"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Introduction to modules</a:t>
            </a:r>
            <a:endParaRPr lang="en" sz="1800" dirty="0">
              <a:solidFill>
                <a:schemeClr val="dk1"/>
              </a:solidFill>
            </a:endParaRPr>
          </a:p>
        </p:txBody>
      </p:sp>
      <p:sp>
        <p:nvSpPr>
          <p:cNvPr id="180" name="Shape 180"/>
          <p:cNvSpPr txBox="1">
            <a:spLocks noGrp="1"/>
          </p:cNvSpPr>
          <p:nvPr>
            <p:ph type="body" idx="1"/>
          </p:nvPr>
        </p:nvSpPr>
        <p:spPr>
          <a:xfrm>
            <a:off x="727112" y="2285924"/>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Purpose, naming and other conventions</a:t>
            </a:r>
            <a:endParaRPr lang="en" sz="1400" dirty="0">
              <a:solidFill>
                <a:schemeClr val="dk2"/>
              </a:solidFill>
            </a:endParaRPr>
          </a:p>
        </p:txBody>
      </p:sp>
      <p:cxnSp>
        <p:nvCxnSpPr>
          <p:cNvPr id="187" name="Shape 187"/>
          <p:cNvCxnSpPr/>
          <p:nvPr/>
        </p:nvCxnSpPr>
        <p:spPr>
          <a:xfrm>
            <a:off x="3048000"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8" name="Shape 188"/>
          <p:cNvSpPr txBox="1">
            <a:spLocks noGrp="1"/>
          </p:cNvSpPr>
          <p:nvPr>
            <p:ph type="title"/>
          </p:nvPr>
        </p:nvSpPr>
        <p:spPr>
          <a:xfrm>
            <a:off x="3095062" y="3722041"/>
            <a:ext cx="3153338" cy="392100"/>
          </a:xfrm>
          <a:prstGeom prst="rect">
            <a:avLst/>
          </a:prstGeom>
        </p:spPr>
        <p:txBody>
          <a:bodyPr lIns="91425" tIns="91425" rIns="91425" bIns="91425" anchor="ctr" anchorCtr="0">
            <a:noAutofit/>
          </a:bodyPr>
          <a:lstStyle/>
          <a:p>
            <a:pPr lvl="0" rtl="0">
              <a:spcBef>
                <a:spcPts val="0"/>
              </a:spcBef>
              <a:buNone/>
            </a:pPr>
            <a:r>
              <a:rPr lang="en-US" sz="1800">
                <a:solidFill>
                  <a:schemeClr val="dk1"/>
                </a:solidFill>
              </a:rPr>
              <a:t>Creating modules</a:t>
            </a:r>
            <a:endParaRPr lang="en" sz="1800" dirty="0">
              <a:solidFill>
                <a:schemeClr val="dk1"/>
              </a:solidFill>
            </a:endParaRPr>
          </a:p>
        </p:txBody>
      </p:sp>
      <p:sp>
        <p:nvSpPr>
          <p:cNvPr id="189" name="Shape 189"/>
          <p:cNvSpPr txBox="1">
            <a:spLocks noGrp="1"/>
          </p:cNvSpPr>
          <p:nvPr>
            <p:ph type="body" idx="1"/>
          </p:nvPr>
        </p:nvSpPr>
        <p:spPr>
          <a:xfrm>
            <a:off x="3095062" y="4012067"/>
            <a:ext cx="2543738"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Creating our own modules </a:t>
            </a:r>
            <a:r>
              <a:rPr lang="en-US" sz="1400">
                <a:solidFill>
                  <a:schemeClr val="dk2"/>
                </a:solidFill>
              </a:rPr>
              <a:t>and exporting names from them</a:t>
            </a:r>
            <a:endParaRPr lang="en" sz="1400" dirty="0">
              <a:solidFill>
                <a:schemeClr val="dk2"/>
              </a:solidFill>
            </a:endParaRPr>
          </a:p>
        </p:txBody>
      </p:sp>
      <p:cxnSp>
        <p:nvCxnSpPr>
          <p:cNvPr id="190" name="Shape 190"/>
          <p:cNvCxnSpPr/>
          <p:nvPr/>
        </p:nvCxnSpPr>
        <p:spPr>
          <a:xfrm rot="10800000">
            <a:off x="4800600" y="2145262"/>
            <a:ext cx="0" cy="1167900"/>
          </a:xfrm>
          <a:prstGeom prst="straightConnector1">
            <a:avLst/>
          </a:prstGeom>
          <a:noFill/>
          <a:ln w="9525" cap="flat" cmpd="sng">
            <a:solidFill>
              <a:schemeClr val="dk2"/>
            </a:solidFill>
            <a:prstDash val="solid"/>
            <a:round/>
            <a:headEnd type="none" w="lg" len="lg"/>
            <a:tailEnd type="oval" w="lg" len="lg"/>
          </a:ln>
        </p:spPr>
      </p:cxnSp>
      <p:sp>
        <p:nvSpPr>
          <p:cNvPr id="191" name="Shape 191"/>
          <p:cNvSpPr txBox="1">
            <a:spLocks noGrp="1"/>
          </p:cNvSpPr>
          <p:nvPr>
            <p:ph type="title"/>
          </p:nvPr>
        </p:nvSpPr>
        <p:spPr>
          <a:xfrm>
            <a:off x="4847660" y="1995911"/>
            <a:ext cx="2391339"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Consuming modules</a:t>
            </a:r>
            <a:endParaRPr lang="en" sz="1800" dirty="0">
              <a:solidFill>
                <a:schemeClr val="dk1"/>
              </a:solidFill>
            </a:endParaRPr>
          </a:p>
        </p:txBody>
      </p:sp>
      <p:sp>
        <p:nvSpPr>
          <p:cNvPr id="192" name="Shape 192"/>
          <p:cNvSpPr txBox="1">
            <a:spLocks noGrp="1"/>
          </p:cNvSpPr>
          <p:nvPr>
            <p:ph type="body" idx="1"/>
          </p:nvPr>
        </p:nvSpPr>
        <p:spPr>
          <a:xfrm>
            <a:off x="4847661" y="2285937"/>
            <a:ext cx="2778088"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Using other people’s modules and </a:t>
            </a:r>
            <a:r>
              <a:rPr lang="en-US" sz="1400">
                <a:solidFill>
                  <a:schemeClr val="dk2"/>
                </a:solidFill>
              </a:rPr>
              <a:t>handling identical names</a:t>
            </a:r>
            <a:endParaRPr lang="en" sz="1400" dirty="0">
              <a:solidFill>
                <a:schemeClr val="dk2"/>
              </a:solidFill>
            </a:endParaRPr>
          </a:p>
        </p:txBody>
      </p:sp>
      <p:grpSp>
        <p:nvGrpSpPr>
          <p:cNvPr id="2" name="Shape 194"/>
          <p:cNvGrpSpPr/>
          <p:nvPr/>
        </p:nvGrpSpPr>
        <p:grpSpPr>
          <a:xfrm>
            <a:off x="383437" y="2992212"/>
            <a:ext cx="8377136" cy="667800"/>
            <a:chOff x="383437" y="2845250"/>
            <a:chExt cx="8377136" cy="667800"/>
          </a:xfrm>
        </p:grpSpPr>
        <p:sp>
          <p:nvSpPr>
            <p:cNvPr id="195" name="Shape 195"/>
            <p:cNvSpPr/>
            <p:nvPr/>
          </p:nvSpPr>
          <p:spPr>
            <a:xfrm rot="5400000">
              <a:off x="8137924" y="2890400"/>
              <a:ext cx="667800" cy="577500"/>
            </a:xfrm>
            <a:prstGeom prst="triangle">
              <a:avLst>
                <a:gd name="adj" fmla="val 50000"/>
              </a:avLst>
            </a:prstGeom>
            <a:solidFill>
              <a:srgbClr val="4285F4"/>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383437" y="3057650"/>
              <a:ext cx="7904700" cy="243000"/>
            </a:xfrm>
            <a:prstGeom prst="rect">
              <a:avLst/>
            </a:prstGeom>
            <a:solidFill>
              <a:srgbClr val="4285F4"/>
            </a:solidFill>
            <a:ln>
              <a:noFill/>
            </a:ln>
          </p:spPr>
          <p:txBody>
            <a:bodyPr lIns="91425" tIns="91425" rIns="91425" bIns="91425" anchor="ctr" anchorCtr="0">
              <a:noAutofit/>
            </a:bodyPr>
            <a:lstStyle/>
            <a:p>
              <a:pPr lvl="0">
                <a:spcBef>
                  <a:spcPts val="0"/>
                </a:spcBef>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Introduction to modules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a:t>Modules explained</a:t>
            </a:r>
            <a:endParaRPr lang="e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The purpose of modules</a:t>
            </a:r>
          </a:p>
          <a:p>
            <a:pPr marL="457200" lvl="0" indent="-355600" rtl="0">
              <a:spcBef>
                <a:spcPts val="0"/>
              </a:spcBef>
              <a:buClr>
                <a:srgbClr val="434343"/>
              </a:buClr>
              <a:buSzPct val="100000"/>
              <a:buChar char="●"/>
            </a:pPr>
            <a:r>
              <a:rPr lang="en-US" sz="2000" dirty="0">
                <a:solidFill>
                  <a:srgbClr val="434343"/>
                </a:solidFill>
              </a:rPr>
              <a:t>How modules are named</a:t>
            </a:r>
          </a:p>
        </p:txBody>
      </p:sp>
    </p:spTree>
    <p:extLst>
      <p:ext uri="{BB962C8B-B14F-4D97-AF65-F5344CB8AC3E}">
        <p14:creationId xmlns:p14="http://schemas.microsoft.com/office/powerpoint/2010/main" val="127432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What are modules for?</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Namespace control</a:t>
            </a:r>
          </a:p>
          <a:p>
            <a:pPr marL="457200" lvl="0" indent="-355600" rtl="0">
              <a:spcBef>
                <a:spcPts val="0"/>
              </a:spcBef>
              <a:buClr>
                <a:srgbClr val="434343"/>
              </a:buClr>
              <a:buSzPct val="100000"/>
              <a:buChar char="●"/>
            </a:pPr>
            <a:r>
              <a:rPr lang="en-US" sz="2000" dirty="0">
                <a:solidFill>
                  <a:srgbClr val="434343"/>
                </a:solidFill>
              </a:rPr>
              <a:t>Grouping related entities</a:t>
            </a:r>
          </a:p>
          <a:p>
            <a:pPr marL="457200" lvl="0" indent="-355600" rtl="0">
              <a:spcBef>
                <a:spcPts val="0"/>
              </a:spcBef>
              <a:buClr>
                <a:srgbClr val="434343"/>
              </a:buClr>
              <a:buSzPct val="100000"/>
              <a:buChar char="●"/>
            </a:pPr>
            <a:r>
              <a:rPr lang="en-US" sz="2000" dirty="0">
                <a:solidFill>
                  <a:srgbClr val="434343"/>
                </a:solidFill>
              </a:rPr>
              <a:t>They are </a:t>
            </a:r>
            <a:r>
              <a:rPr lang="en-US" sz="2000" i="1" dirty="0">
                <a:solidFill>
                  <a:srgbClr val="434343"/>
                </a:solidFill>
              </a:rPr>
              <a:t>not</a:t>
            </a:r>
            <a:r>
              <a:rPr lang="en-US" sz="2000" dirty="0">
                <a:solidFill>
                  <a:srgbClr val="434343"/>
                </a:solidFill>
              </a:rPr>
              <a:t> first-class values</a:t>
            </a:r>
          </a:p>
          <a:p>
            <a:pPr marL="457200" lvl="0" indent="-355600" rtl="0">
              <a:spcBef>
                <a:spcPts val="0"/>
              </a:spcBef>
              <a:buClr>
                <a:srgbClr val="434343"/>
              </a:buClr>
              <a:buSzPct val="100000"/>
              <a:buChar char="●"/>
            </a:pPr>
            <a:r>
              <a:rPr lang="en-US" sz="2000" dirty="0">
                <a:solidFill>
                  <a:srgbClr val="434343"/>
                </a:solidFill>
              </a:rPr>
              <a:t>Partition programs into logical chunks</a:t>
            </a:r>
          </a:p>
          <a:p>
            <a:pPr marL="457200" lvl="0" indent="-355600" rtl="0">
              <a:spcBef>
                <a:spcPts val="0"/>
              </a:spcBef>
              <a:buClr>
                <a:srgbClr val="434343"/>
              </a:buClr>
              <a:buSzPct val="100000"/>
              <a:buChar char="●"/>
            </a:pPr>
            <a:r>
              <a:rPr lang="en-US" sz="2000" dirty="0">
                <a:solidFill>
                  <a:srgbClr val="434343"/>
                </a:solidFill>
              </a:rPr>
              <a:t>One module per source file (GHC)</a:t>
            </a:r>
          </a:p>
        </p:txBody>
      </p:sp>
    </p:spTree>
    <p:extLst>
      <p:ext uri="{BB962C8B-B14F-4D97-AF65-F5344CB8AC3E}">
        <p14:creationId xmlns:p14="http://schemas.microsoft.com/office/powerpoint/2010/main" val="851456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Names in Haskell</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Variables</a:t>
            </a:r>
          </a:p>
          <a:p>
            <a:pPr marL="457200" lvl="0" indent="-355600" rtl="0">
              <a:spcBef>
                <a:spcPts val="0"/>
              </a:spcBef>
              <a:buClr>
                <a:srgbClr val="434343"/>
              </a:buClr>
              <a:buSzPct val="100000"/>
              <a:buChar char="●"/>
            </a:pPr>
            <a:r>
              <a:rPr lang="en-US" sz="2000" dirty="0">
                <a:solidFill>
                  <a:srgbClr val="434343"/>
                </a:solidFill>
              </a:rPr>
              <a:t>Data constructors</a:t>
            </a:r>
          </a:p>
          <a:p>
            <a:pPr marL="457200" lvl="0" indent="-355600" rtl="0">
              <a:spcBef>
                <a:spcPts val="0"/>
              </a:spcBef>
              <a:buClr>
                <a:srgbClr val="434343"/>
              </a:buClr>
              <a:buSzPct val="100000"/>
              <a:buChar char="●"/>
            </a:pPr>
            <a:r>
              <a:rPr lang="en-US" sz="2000" dirty="0">
                <a:solidFill>
                  <a:srgbClr val="434343"/>
                </a:solidFill>
              </a:rPr>
              <a:t>Type variables</a:t>
            </a:r>
          </a:p>
          <a:p>
            <a:pPr marL="457200" lvl="0" indent="-355600" rtl="0">
              <a:spcBef>
                <a:spcPts val="0"/>
              </a:spcBef>
              <a:buClr>
                <a:srgbClr val="434343"/>
              </a:buClr>
              <a:buSzPct val="100000"/>
              <a:buChar char="●"/>
            </a:pPr>
            <a:r>
              <a:rPr lang="en-US" sz="2000" dirty="0">
                <a:solidFill>
                  <a:srgbClr val="434343"/>
                </a:solidFill>
              </a:rPr>
              <a:t>Type constructors</a:t>
            </a:r>
          </a:p>
          <a:p>
            <a:pPr marL="457200" lvl="0" indent="-355600" rtl="0">
              <a:spcBef>
                <a:spcPts val="0"/>
              </a:spcBef>
              <a:buClr>
                <a:srgbClr val="434343"/>
              </a:buClr>
              <a:buSzPct val="100000"/>
              <a:buChar char="●"/>
            </a:pPr>
            <a:r>
              <a:rPr lang="en-US" sz="2000" dirty="0">
                <a:solidFill>
                  <a:srgbClr val="434343"/>
                </a:solidFill>
              </a:rPr>
              <a:t>Type classes</a:t>
            </a:r>
          </a:p>
          <a:p>
            <a:pPr marL="457200" lvl="0" indent="-355600" rtl="0">
              <a:spcBef>
                <a:spcPts val="0"/>
              </a:spcBef>
              <a:buClr>
                <a:srgbClr val="434343"/>
              </a:buClr>
              <a:buSzPct val="100000"/>
              <a:buChar char="●"/>
            </a:pPr>
            <a:r>
              <a:rPr lang="en-US" sz="2000" dirty="0">
                <a:solidFill>
                  <a:srgbClr val="434343"/>
                </a:solidFill>
              </a:rPr>
              <a:t>Modules</a:t>
            </a:r>
          </a:p>
        </p:txBody>
      </p:sp>
    </p:spTree>
    <p:extLst>
      <p:ext uri="{BB962C8B-B14F-4D97-AF65-F5344CB8AC3E}">
        <p14:creationId xmlns:p14="http://schemas.microsoft.com/office/powerpoint/2010/main" val="254471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Examples of Haskell module names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err="1">
                <a:solidFill>
                  <a:srgbClr val="434343"/>
                </a:solidFill>
              </a:rPr>
              <a:t>MyApp</a:t>
            </a:r>
            <a:br>
              <a:rPr lang="en-US" sz="2000" dirty="0">
                <a:solidFill>
                  <a:srgbClr val="434343"/>
                </a:solidFill>
              </a:rPr>
            </a:br>
            <a:r>
              <a:rPr lang="en-US" sz="2000" dirty="0">
                <a:solidFill>
                  <a:srgbClr val="434343"/>
                </a:solidFill>
              </a:rPr>
              <a:t>Defined in source file </a:t>
            </a:r>
            <a:r>
              <a:rPr lang="en-US" sz="2000" b="1" i="1" dirty="0" err="1">
                <a:solidFill>
                  <a:srgbClr val="434343"/>
                </a:solidFill>
              </a:rPr>
              <a:t>MyApp.hs</a:t>
            </a:r>
            <a:endParaRPr lang="en-US" sz="2000" b="1" i="1" dirty="0">
              <a:solidFill>
                <a:srgbClr val="434343"/>
              </a:solidFill>
            </a:endParaRPr>
          </a:p>
          <a:p>
            <a:pPr marL="457200" lvl="0" indent="-355600" rtl="0">
              <a:spcBef>
                <a:spcPts val="0"/>
              </a:spcBef>
              <a:buClr>
                <a:srgbClr val="434343"/>
              </a:buClr>
              <a:buSzPct val="100000"/>
              <a:buChar char="●"/>
            </a:pPr>
            <a:r>
              <a:rPr lang="en-US" sz="2000" b="1" i="1" dirty="0" err="1">
                <a:solidFill>
                  <a:srgbClr val="434343"/>
                </a:solidFill>
              </a:rPr>
              <a:t>Numeric.LinearAlgebra</a:t>
            </a:r>
            <a:br>
              <a:rPr lang="en-US" sz="2000" dirty="0">
                <a:solidFill>
                  <a:srgbClr val="434343"/>
                </a:solidFill>
              </a:rPr>
            </a:br>
            <a:r>
              <a:rPr lang="en-US" sz="2000" dirty="0">
                <a:solidFill>
                  <a:srgbClr val="434343"/>
                </a:solidFill>
              </a:rPr>
              <a:t>Defined in source file</a:t>
            </a:r>
            <a:br>
              <a:rPr lang="en-US" sz="2000" dirty="0">
                <a:solidFill>
                  <a:srgbClr val="434343"/>
                </a:solidFill>
              </a:rPr>
            </a:br>
            <a:r>
              <a:rPr lang="en-US" sz="2000" b="1" i="1" dirty="0">
                <a:solidFill>
                  <a:srgbClr val="434343"/>
                </a:solidFill>
              </a:rPr>
              <a:t>Numeric\</a:t>
            </a:r>
            <a:r>
              <a:rPr lang="en-US" sz="2000" b="1" i="1" dirty="0" err="1">
                <a:solidFill>
                  <a:srgbClr val="434343"/>
                </a:solidFill>
              </a:rPr>
              <a:t>LinearAlgebra.hs</a:t>
            </a:r>
            <a:r>
              <a:rPr lang="en-US" sz="2000" dirty="0">
                <a:solidFill>
                  <a:srgbClr val="434343"/>
                </a:solidFill>
              </a:rPr>
              <a:t> (Windows)</a:t>
            </a:r>
            <a:br>
              <a:rPr lang="en-US" sz="2000" dirty="0">
                <a:solidFill>
                  <a:srgbClr val="434343"/>
                </a:solidFill>
              </a:rPr>
            </a:br>
            <a:r>
              <a:rPr lang="en-US" sz="2000" b="1" i="1" dirty="0">
                <a:solidFill>
                  <a:srgbClr val="434343"/>
                </a:solidFill>
              </a:rPr>
              <a:t>Numeric/</a:t>
            </a:r>
            <a:r>
              <a:rPr lang="en-US" sz="2000" b="1" i="1" dirty="0" err="1">
                <a:solidFill>
                  <a:srgbClr val="434343"/>
                </a:solidFill>
              </a:rPr>
              <a:t>LinearAlgebra.hs</a:t>
            </a:r>
            <a:r>
              <a:rPr lang="en-US" sz="2000" dirty="0">
                <a:solidFill>
                  <a:srgbClr val="434343"/>
                </a:solidFill>
              </a:rPr>
              <a:t> (Linux, </a:t>
            </a:r>
            <a:r>
              <a:rPr lang="en-US" sz="2000" dirty="0" err="1">
                <a:solidFill>
                  <a:srgbClr val="434343"/>
                </a:solidFill>
              </a:rPr>
              <a:t>macOS</a:t>
            </a:r>
            <a:r>
              <a:rPr lang="en-US" sz="2000">
                <a:solidFill>
                  <a:srgbClr val="434343"/>
                </a:solidFill>
              </a:rPr>
              <a:t>)</a:t>
            </a:r>
            <a:endParaRPr lang="en-US" sz="2000" dirty="0">
              <a:solidFill>
                <a:srgbClr val="434343"/>
              </a:solidFill>
            </a:endParaRPr>
          </a:p>
          <a:p>
            <a:pPr marL="457200" lvl="0" indent="-355600" rtl="0">
              <a:spcBef>
                <a:spcPts val="0"/>
              </a:spcBef>
              <a:buClr>
                <a:srgbClr val="434343"/>
              </a:buClr>
              <a:buSzPct val="100000"/>
              <a:buChar char="●"/>
            </a:pPr>
            <a:r>
              <a:rPr lang="en-US" sz="2000" dirty="0">
                <a:solidFill>
                  <a:srgbClr val="434343"/>
                </a:solidFill>
              </a:rPr>
              <a:t>Module sources stored relative to the </a:t>
            </a:r>
            <a:r>
              <a:rPr lang="en-US" sz="2000" b="1" i="1" dirty="0" err="1">
                <a:solidFill>
                  <a:srgbClr val="434343"/>
                </a:solidFill>
              </a:rPr>
              <a:t>hs</a:t>
            </a:r>
            <a:r>
              <a:rPr lang="en-US" sz="2000" b="1" i="1" dirty="0">
                <a:solidFill>
                  <a:srgbClr val="434343"/>
                </a:solidFill>
              </a:rPr>
              <a:t>-source-</a:t>
            </a:r>
            <a:r>
              <a:rPr lang="en-US" sz="2000" b="1" i="1" dirty="0" err="1">
                <a:solidFill>
                  <a:srgbClr val="434343"/>
                </a:solidFill>
              </a:rPr>
              <a:t>dirs</a:t>
            </a:r>
            <a:r>
              <a:rPr lang="en-US" sz="2000" dirty="0">
                <a:solidFill>
                  <a:srgbClr val="434343"/>
                </a:solidFill>
              </a:rPr>
              <a:t> directory</a:t>
            </a:r>
          </a:p>
        </p:txBody>
      </p:sp>
    </p:spTree>
    <p:extLst>
      <p:ext uri="{BB962C8B-B14F-4D97-AF65-F5344CB8AC3E}">
        <p14:creationId xmlns:p14="http://schemas.microsoft.com/office/powerpoint/2010/main" val="85520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a:t>Creating modules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TotalTime>
  <Words>312</Words>
  <Application>Microsoft Office PowerPoint</Application>
  <PresentationFormat>On-screen Show (16:9)</PresentationFormat>
  <Paragraphs>43</Paragraphs>
  <Slides>8</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Arial</vt:lpstr>
      <vt:lpstr>Calibri</vt:lpstr>
      <vt:lpstr>Roboto</vt:lpstr>
      <vt:lpstr>Wingdings</vt:lpstr>
      <vt:lpstr>Packt</vt:lpstr>
      <vt:lpstr>Packt</vt:lpstr>
      <vt:lpstr>Modules explained</vt:lpstr>
      <vt:lpstr>What We’ll Learn</vt:lpstr>
      <vt:lpstr>Introduction to modules</vt:lpstr>
      <vt:lpstr>In this video, we’re going to take a look at…</vt:lpstr>
      <vt:lpstr>What are modules for?</vt:lpstr>
      <vt:lpstr>Names in Haskell</vt:lpstr>
      <vt:lpstr>Examples of Haskell module names</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34</cp:revision>
  <dcterms:modified xsi:type="dcterms:W3CDTF">2017-04-09T16:53:29Z</dcterms:modified>
</cp:coreProperties>
</file>