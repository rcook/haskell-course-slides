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12"/>
  </p:notesMasterIdLst>
  <p:sldIdLst>
    <p:sldId id="270" r:id="rId3"/>
    <p:sldId id="271" r:id="rId4"/>
    <p:sldId id="258" r:id="rId5"/>
    <p:sldId id="272" r:id="rId6"/>
    <p:sldId id="273" r:id="rId7"/>
    <p:sldId id="274" r:id="rId8"/>
    <p:sldId id="276" r:id="rId9"/>
    <p:sldId id="277" r:id="rId10"/>
    <p:sldId id="269"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7812" autoAdjust="0"/>
  </p:normalViewPr>
  <p:slideViewPr>
    <p:cSldViewPr>
      <p:cViewPr varScale="1">
        <p:scale>
          <a:sx n="76" d="100"/>
          <a:sy n="76" d="100"/>
        </p:scale>
        <p:origin x="1000" y="5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The name of</a:t>
            </a:r>
            <a:r>
              <a:rPr lang="en-US" baseline="0" dirty="0"/>
              <a:t> the section would be mentioned here.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a:t>
            </a:r>
            <a:r>
              <a:rPr lang="en-US" baseline="0" dirty="0"/>
              <a:t> Slide]</a:t>
            </a:r>
          </a:p>
          <a:p>
            <a:pPr lvl="0" rtl="0">
              <a:spcBef>
                <a:spcPts val="0"/>
              </a:spcBef>
              <a:buNone/>
            </a:pPr>
            <a:r>
              <a:rPr lang="en-US" dirty="0"/>
              <a:t>This is a sort of a road map to</a:t>
            </a:r>
            <a:r>
              <a:rPr lang="en-US" baseline="0" dirty="0"/>
              <a:t> get introduced to the topics of the section and their title. Instead of putting them as straight bullets, we can show a learning path.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71275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740611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262525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322552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771785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99"/>
        <p:cNvGrpSpPr/>
        <p:nvPr/>
      </p:nvGrpSpPr>
      <p:grpSpPr>
        <a:xfrm>
          <a:off x="0" y="0"/>
          <a:ext cx="0" cy="0"/>
          <a:chOff x="0" y="0"/>
          <a:chExt cx="0" cy="0"/>
        </a:xfrm>
      </p:grpSpPr>
      <p:sp>
        <p:nvSpPr>
          <p:cNvPr id="100" name="Shape 10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01" name="Shape 10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02" name="Shape 10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03" name="Shape 10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cSld name="Standalone Introduction or Summary">
    <p:bg>
      <p:bgPr>
        <a:solidFill>
          <a:srgbClr val="F37021"/>
        </a:solidFill>
        <a:effectLst/>
      </p:bgPr>
    </p:bg>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2.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2" r:id="rId3"/>
    <p:sldLayoutId id="2147483674" r:id="rId4"/>
    <p:sldLayoutId id="2147483679" r:id="rId5"/>
    <p:sldLayoutId id="2147483681" r:id="rId6"/>
    <p:sldLayoutId id="2147483683" r:id="rId7"/>
    <p:sldLayoutId id="2147483684" r:id="rId8"/>
    <p:sldLayoutId id="2147483685" r:id="rId9"/>
    <p:sldLayoutId id="2147483686" r:id="rId10"/>
    <p:sldLayoutId id="2147483687" r:id="rId11"/>
    <p:sldLayoutId id="2147483688" r:id="rId12"/>
    <p:sldLayoutId id="2147483689" r:id="rId13"/>
    <p:sldLayoutId id="214748369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Shape 173"/>
          <p:cNvSpPr txBox="1">
            <a:spLocks noGrp="1"/>
          </p:cNvSpPr>
          <p:nvPr>
            <p:ph type="title"/>
          </p:nvPr>
        </p:nvSpPr>
        <p:spPr>
          <a:xfrm>
            <a:off x="460950" y="2065350"/>
            <a:ext cx="8222100" cy="1012800"/>
          </a:xfrm>
          <a:prstGeom prst="rect">
            <a:avLst/>
          </a:prstGeom>
        </p:spPr>
        <p:txBody>
          <a:bodyPr lIns="91425" tIns="91425" rIns="91425" bIns="91425" anchor="ctr" anchorCtr="0">
            <a:noAutofit/>
          </a:bodyPr>
          <a:lstStyle/>
          <a:p>
            <a:pPr lvl="0" rtl="0">
              <a:spcBef>
                <a:spcPts val="0"/>
              </a:spcBef>
              <a:buNone/>
            </a:pPr>
            <a:r>
              <a:rPr lang="en-US" dirty="0" smtClean="0"/>
              <a:t>The command line</a:t>
            </a:r>
            <a:endParaRPr lang="e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93" name="Shape 193"/>
          <p:cNvSpPr txBox="1">
            <a:spLocks noGrp="1"/>
          </p:cNvSpPr>
          <p:nvPr>
            <p:ph type="title"/>
          </p:nvPr>
        </p:nvSpPr>
        <p:spPr>
          <a:xfrm>
            <a:off x="471900" y="738725"/>
            <a:ext cx="8222100" cy="767700"/>
          </a:xfrm>
          <a:prstGeom prst="rect">
            <a:avLst/>
          </a:prstGeom>
        </p:spPr>
        <p:txBody>
          <a:bodyPr lIns="91425" tIns="91425" rIns="91425" bIns="91425" anchor="b" anchorCtr="0">
            <a:noAutofit/>
          </a:bodyPr>
          <a:lstStyle/>
          <a:p>
            <a:pPr lvl="0" rtl="0">
              <a:spcBef>
                <a:spcPts val="0"/>
              </a:spcBef>
              <a:buNone/>
            </a:pPr>
            <a:r>
              <a:rPr lang="en" dirty="0"/>
              <a:t>What We’ll Learn</a:t>
            </a:r>
          </a:p>
        </p:txBody>
      </p:sp>
      <p:cxnSp>
        <p:nvCxnSpPr>
          <p:cNvPr id="178" name="Shape 178"/>
          <p:cNvCxnSpPr/>
          <p:nvPr/>
        </p:nvCxnSpPr>
        <p:spPr>
          <a:xfrm rot="10800000">
            <a:off x="680050" y="2153374"/>
            <a:ext cx="0" cy="1122600"/>
          </a:xfrm>
          <a:prstGeom prst="straightConnector1">
            <a:avLst/>
          </a:prstGeom>
          <a:noFill/>
          <a:ln w="9525" cap="flat" cmpd="sng">
            <a:solidFill>
              <a:schemeClr val="dk2"/>
            </a:solidFill>
            <a:prstDash val="solid"/>
            <a:round/>
            <a:headEnd type="none" w="lg" len="lg"/>
            <a:tailEnd type="oval" w="lg" len="lg"/>
          </a:ln>
        </p:spPr>
      </p:cxnSp>
      <p:sp>
        <p:nvSpPr>
          <p:cNvPr id="179" name="Shape 179"/>
          <p:cNvSpPr txBox="1">
            <a:spLocks noGrp="1"/>
          </p:cNvSpPr>
          <p:nvPr>
            <p:ph type="title"/>
          </p:nvPr>
        </p:nvSpPr>
        <p:spPr>
          <a:xfrm>
            <a:off x="727112" y="1995898"/>
            <a:ext cx="2778088" cy="392100"/>
          </a:xfrm>
          <a:prstGeom prst="rect">
            <a:avLst/>
          </a:prstGeom>
        </p:spPr>
        <p:txBody>
          <a:bodyPr lIns="91425" tIns="91425" rIns="91425" bIns="91425" anchor="ctr" anchorCtr="0">
            <a:noAutofit/>
          </a:bodyPr>
          <a:lstStyle/>
          <a:p>
            <a:pPr lvl="0" rtl="0">
              <a:spcBef>
                <a:spcPts val="0"/>
              </a:spcBef>
              <a:buNone/>
            </a:pPr>
            <a:r>
              <a:rPr lang="en-US" sz="1800" dirty="0" smtClean="0">
                <a:solidFill>
                  <a:schemeClr val="dk1"/>
                </a:solidFill>
              </a:rPr>
              <a:t>The Applicative Way</a:t>
            </a:r>
            <a:endParaRPr lang="en" sz="1800" dirty="0">
              <a:solidFill>
                <a:schemeClr val="dk1"/>
              </a:solidFill>
            </a:endParaRPr>
          </a:p>
        </p:txBody>
      </p:sp>
      <p:sp>
        <p:nvSpPr>
          <p:cNvPr id="180" name="Shape 180"/>
          <p:cNvSpPr txBox="1">
            <a:spLocks noGrp="1"/>
          </p:cNvSpPr>
          <p:nvPr>
            <p:ph type="body" idx="1"/>
          </p:nvPr>
        </p:nvSpPr>
        <p:spPr>
          <a:xfrm>
            <a:off x="727112" y="2285924"/>
            <a:ext cx="1814100" cy="578700"/>
          </a:xfrm>
          <a:prstGeom prst="rect">
            <a:avLst/>
          </a:prstGeom>
        </p:spPr>
        <p:txBody>
          <a:bodyPr lIns="91425" tIns="91425" rIns="91425" bIns="91425" anchor="t" anchorCtr="0">
            <a:noAutofit/>
          </a:bodyPr>
          <a:lstStyle/>
          <a:p>
            <a:pPr lvl="0" rtl="0">
              <a:spcBef>
                <a:spcPts val="0"/>
              </a:spcBef>
              <a:buNone/>
            </a:pPr>
            <a:r>
              <a:rPr lang="en-US" sz="1400" dirty="0" smtClean="0">
                <a:solidFill>
                  <a:schemeClr val="dk2"/>
                </a:solidFill>
              </a:rPr>
              <a:t>A crash course in </a:t>
            </a:r>
            <a:r>
              <a:rPr lang="en-US" sz="1400" b="1" i="1" dirty="0" err="1" smtClean="0">
                <a:solidFill>
                  <a:schemeClr val="dk2"/>
                </a:solidFill>
              </a:rPr>
              <a:t>optparse</a:t>
            </a:r>
            <a:r>
              <a:rPr lang="en-US" sz="1400" b="1" i="1" dirty="0" smtClean="0">
                <a:solidFill>
                  <a:schemeClr val="dk2"/>
                </a:solidFill>
              </a:rPr>
              <a:t>-applicative</a:t>
            </a:r>
            <a:endParaRPr lang="en" sz="1400" b="1" i="1" dirty="0">
              <a:solidFill>
                <a:schemeClr val="dk2"/>
              </a:solidFill>
            </a:endParaRPr>
          </a:p>
        </p:txBody>
      </p:sp>
      <p:cxnSp>
        <p:nvCxnSpPr>
          <p:cNvPr id="187" name="Shape 187"/>
          <p:cNvCxnSpPr/>
          <p:nvPr/>
        </p:nvCxnSpPr>
        <p:spPr>
          <a:xfrm>
            <a:off x="3048000" y="3296200"/>
            <a:ext cx="0" cy="667800"/>
          </a:xfrm>
          <a:prstGeom prst="straightConnector1">
            <a:avLst/>
          </a:prstGeom>
          <a:noFill/>
          <a:ln w="9525" cap="flat" cmpd="sng">
            <a:solidFill>
              <a:schemeClr val="dk2"/>
            </a:solidFill>
            <a:prstDash val="solid"/>
            <a:round/>
            <a:headEnd type="none" w="lg" len="lg"/>
            <a:tailEnd type="oval" w="lg" len="lg"/>
          </a:ln>
        </p:spPr>
      </p:cxnSp>
      <p:sp>
        <p:nvSpPr>
          <p:cNvPr id="188" name="Shape 188"/>
          <p:cNvSpPr txBox="1">
            <a:spLocks noGrp="1"/>
          </p:cNvSpPr>
          <p:nvPr>
            <p:ph type="title"/>
          </p:nvPr>
        </p:nvSpPr>
        <p:spPr>
          <a:xfrm>
            <a:off x="3095062" y="3722041"/>
            <a:ext cx="3153338" cy="392100"/>
          </a:xfrm>
          <a:prstGeom prst="rect">
            <a:avLst/>
          </a:prstGeom>
        </p:spPr>
        <p:txBody>
          <a:bodyPr lIns="91425" tIns="91425" rIns="91425" bIns="91425" anchor="ctr" anchorCtr="0">
            <a:noAutofit/>
          </a:bodyPr>
          <a:lstStyle/>
          <a:p>
            <a:pPr lvl="0" rtl="0">
              <a:spcBef>
                <a:spcPts val="0"/>
              </a:spcBef>
              <a:buNone/>
            </a:pPr>
            <a:r>
              <a:rPr lang="en-US" sz="1800" dirty="0" smtClean="0">
                <a:solidFill>
                  <a:schemeClr val="dk1"/>
                </a:solidFill>
              </a:rPr>
              <a:t>ADTs for command-line options</a:t>
            </a:r>
            <a:endParaRPr lang="en" sz="1800" dirty="0">
              <a:solidFill>
                <a:schemeClr val="dk1"/>
              </a:solidFill>
            </a:endParaRPr>
          </a:p>
        </p:txBody>
      </p:sp>
      <p:sp>
        <p:nvSpPr>
          <p:cNvPr id="189" name="Shape 189"/>
          <p:cNvSpPr txBox="1">
            <a:spLocks noGrp="1"/>
          </p:cNvSpPr>
          <p:nvPr>
            <p:ph type="body" idx="1"/>
          </p:nvPr>
        </p:nvSpPr>
        <p:spPr>
          <a:xfrm>
            <a:off x="3095062" y="4012067"/>
            <a:ext cx="2543738" cy="578700"/>
          </a:xfrm>
          <a:prstGeom prst="rect">
            <a:avLst/>
          </a:prstGeom>
        </p:spPr>
        <p:txBody>
          <a:bodyPr lIns="91425" tIns="91425" rIns="91425" bIns="91425" anchor="t" anchorCtr="0">
            <a:noAutofit/>
          </a:bodyPr>
          <a:lstStyle/>
          <a:p>
            <a:pPr lvl="0" rtl="0">
              <a:spcBef>
                <a:spcPts val="0"/>
              </a:spcBef>
              <a:buNone/>
            </a:pPr>
            <a:r>
              <a:rPr lang="en-US" sz="1400" dirty="0" smtClean="0">
                <a:solidFill>
                  <a:schemeClr val="dk2"/>
                </a:solidFill>
              </a:rPr>
              <a:t>Using the type system for the CLI</a:t>
            </a:r>
            <a:endParaRPr lang="en" sz="1400" dirty="0">
              <a:solidFill>
                <a:schemeClr val="dk2"/>
              </a:solidFill>
            </a:endParaRPr>
          </a:p>
        </p:txBody>
      </p:sp>
      <p:cxnSp>
        <p:nvCxnSpPr>
          <p:cNvPr id="190" name="Shape 190"/>
          <p:cNvCxnSpPr/>
          <p:nvPr/>
        </p:nvCxnSpPr>
        <p:spPr>
          <a:xfrm rot="10800000">
            <a:off x="4800600" y="2145262"/>
            <a:ext cx="0" cy="1167900"/>
          </a:xfrm>
          <a:prstGeom prst="straightConnector1">
            <a:avLst/>
          </a:prstGeom>
          <a:noFill/>
          <a:ln w="9525" cap="flat" cmpd="sng">
            <a:solidFill>
              <a:schemeClr val="dk2"/>
            </a:solidFill>
            <a:prstDash val="solid"/>
            <a:round/>
            <a:headEnd type="none" w="lg" len="lg"/>
            <a:tailEnd type="oval" w="lg" len="lg"/>
          </a:ln>
        </p:spPr>
      </p:cxnSp>
      <p:sp>
        <p:nvSpPr>
          <p:cNvPr id="191" name="Shape 191"/>
          <p:cNvSpPr txBox="1">
            <a:spLocks noGrp="1"/>
          </p:cNvSpPr>
          <p:nvPr>
            <p:ph type="title"/>
          </p:nvPr>
        </p:nvSpPr>
        <p:spPr>
          <a:xfrm>
            <a:off x="4847660" y="1995911"/>
            <a:ext cx="3335414" cy="392100"/>
          </a:xfrm>
          <a:prstGeom prst="rect">
            <a:avLst/>
          </a:prstGeom>
        </p:spPr>
        <p:txBody>
          <a:bodyPr lIns="91425" tIns="91425" rIns="91425" bIns="91425" anchor="ctr" anchorCtr="0">
            <a:noAutofit/>
          </a:bodyPr>
          <a:lstStyle/>
          <a:p>
            <a:pPr lvl="0" rtl="0">
              <a:spcBef>
                <a:spcPts val="0"/>
              </a:spcBef>
              <a:buNone/>
            </a:pPr>
            <a:r>
              <a:rPr lang="en-US" sz="1800" dirty="0" err="1" smtClean="0">
                <a:solidFill>
                  <a:schemeClr val="dk1"/>
                </a:solidFill>
              </a:rPr>
              <a:t>Subparsers</a:t>
            </a:r>
            <a:r>
              <a:rPr lang="en-US" sz="1800" dirty="0" smtClean="0">
                <a:solidFill>
                  <a:schemeClr val="dk1"/>
                </a:solidFill>
              </a:rPr>
              <a:t> and wrapping up</a:t>
            </a:r>
            <a:endParaRPr lang="en" sz="1800" dirty="0">
              <a:solidFill>
                <a:schemeClr val="dk1"/>
              </a:solidFill>
            </a:endParaRPr>
          </a:p>
        </p:txBody>
      </p:sp>
      <p:sp>
        <p:nvSpPr>
          <p:cNvPr id="192" name="Shape 192"/>
          <p:cNvSpPr txBox="1">
            <a:spLocks noGrp="1"/>
          </p:cNvSpPr>
          <p:nvPr>
            <p:ph type="body" idx="1"/>
          </p:nvPr>
        </p:nvSpPr>
        <p:spPr>
          <a:xfrm>
            <a:off x="4847661" y="2285937"/>
            <a:ext cx="2778088" cy="578700"/>
          </a:xfrm>
          <a:prstGeom prst="rect">
            <a:avLst/>
          </a:prstGeom>
        </p:spPr>
        <p:txBody>
          <a:bodyPr lIns="91425" tIns="91425" rIns="91425" bIns="91425" anchor="t" anchorCtr="0">
            <a:noAutofit/>
          </a:bodyPr>
          <a:lstStyle/>
          <a:p>
            <a:pPr lvl="0" rtl="0">
              <a:spcBef>
                <a:spcPts val="0"/>
              </a:spcBef>
              <a:buNone/>
            </a:pPr>
            <a:r>
              <a:rPr lang="en-US" sz="1400" dirty="0" smtClean="0">
                <a:solidFill>
                  <a:schemeClr val="dk2"/>
                </a:solidFill>
              </a:rPr>
              <a:t>We’ll end up with a </a:t>
            </a:r>
            <a:r>
              <a:rPr lang="en-US" sz="1400" smtClean="0">
                <a:solidFill>
                  <a:schemeClr val="dk2"/>
                </a:solidFill>
              </a:rPr>
              <a:t>fully-functional command-line parser</a:t>
            </a:r>
            <a:endParaRPr lang="en" sz="1400" dirty="0">
              <a:solidFill>
                <a:schemeClr val="dk2"/>
              </a:solidFill>
            </a:endParaRPr>
          </a:p>
        </p:txBody>
      </p:sp>
      <p:grpSp>
        <p:nvGrpSpPr>
          <p:cNvPr id="2" name="Shape 194"/>
          <p:cNvGrpSpPr/>
          <p:nvPr/>
        </p:nvGrpSpPr>
        <p:grpSpPr>
          <a:xfrm>
            <a:off x="383437" y="2992212"/>
            <a:ext cx="8377136" cy="667800"/>
            <a:chOff x="383437" y="2845250"/>
            <a:chExt cx="8377136" cy="667800"/>
          </a:xfrm>
        </p:grpSpPr>
        <p:sp>
          <p:nvSpPr>
            <p:cNvPr id="195" name="Shape 195"/>
            <p:cNvSpPr/>
            <p:nvPr/>
          </p:nvSpPr>
          <p:spPr>
            <a:xfrm rot="5400000">
              <a:off x="8137924" y="2890400"/>
              <a:ext cx="667800" cy="577500"/>
            </a:xfrm>
            <a:prstGeom prst="triangle">
              <a:avLst>
                <a:gd name="adj" fmla="val 50000"/>
              </a:avLst>
            </a:prstGeom>
            <a:solidFill>
              <a:srgbClr val="4285F4"/>
            </a:solidFill>
            <a:ln>
              <a:noFill/>
            </a:ln>
          </p:spPr>
          <p:txBody>
            <a:bodyPr lIns="91425" tIns="91425" rIns="91425" bIns="91425" anchor="ctr" anchorCtr="0">
              <a:noAutofit/>
            </a:bodyPr>
            <a:lstStyle/>
            <a:p>
              <a:pPr lvl="0">
                <a:spcBef>
                  <a:spcPts val="0"/>
                </a:spcBef>
                <a:buNone/>
              </a:pPr>
              <a:endParaRPr/>
            </a:p>
          </p:txBody>
        </p:sp>
        <p:sp>
          <p:nvSpPr>
            <p:cNvPr id="196" name="Shape 196"/>
            <p:cNvSpPr/>
            <p:nvPr/>
          </p:nvSpPr>
          <p:spPr>
            <a:xfrm>
              <a:off x="383437" y="3057650"/>
              <a:ext cx="7904700" cy="243000"/>
            </a:xfrm>
            <a:prstGeom prst="rect">
              <a:avLst/>
            </a:prstGeom>
            <a:solidFill>
              <a:srgbClr val="4285F4"/>
            </a:solidFill>
            <a:ln>
              <a:noFill/>
            </a:ln>
          </p:spPr>
          <p:txBody>
            <a:bodyPr lIns="91425" tIns="91425" rIns="91425" bIns="91425" anchor="ctr" anchorCtr="0">
              <a:noAutofit/>
            </a:bodyPr>
            <a:lstStyle/>
            <a:p>
              <a:pPr lvl="0">
                <a:spcBef>
                  <a:spcPts val="0"/>
                </a:spcBef>
                <a:buNone/>
              </a:pPr>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smtClean="0"/>
              <a:t>The Applicative Way</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dirty="0" smtClean="0"/>
              <a:t>The command line</a:t>
            </a:r>
            <a:endParaRPr lang="e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In </a:t>
            </a:r>
            <a:r>
              <a:rPr lang="en-US" sz="2200"/>
              <a:t>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V</a:t>
            </a:r>
            <a:r>
              <a:rPr lang="en-US" sz="2000" dirty="0" smtClean="0">
                <a:solidFill>
                  <a:srgbClr val="434343"/>
                </a:solidFill>
              </a:rPr>
              <a:t>arious options available for command-line parsing</a:t>
            </a:r>
            <a:endParaRPr lang="en-US" sz="2000" dirty="0">
              <a:solidFill>
                <a:srgbClr val="434343"/>
              </a:solidFill>
            </a:endParaRPr>
          </a:p>
          <a:p>
            <a:pPr marL="457200" lvl="0" indent="-355600" rtl="0">
              <a:spcBef>
                <a:spcPts val="0"/>
              </a:spcBef>
              <a:buClr>
                <a:srgbClr val="434343"/>
              </a:buClr>
              <a:buSzPct val="100000"/>
              <a:buChar char="●"/>
            </a:pPr>
            <a:r>
              <a:rPr lang="en-US" sz="2000" b="1" i="1" dirty="0" err="1">
                <a:solidFill>
                  <a:srgbClr val="434343"/>
                </a:solidFill>
              </a:rPr>
              <a:t>o</a:t>
            </a:r>
            <a:r>
              <a:rPr lang="en-US" sz="2000" b="1" i="1" dirty="0" err="1" smtClean="0">
                <a:solidFill>
                  <a:srgbClr val="434343"/>
                </a:solidFill>
              </a:rPr>
              <a:t>ptparse-applicative</a:t>
            </a:r>
            <a:r>
              <a:rPr lang="en-US" sz="2000" dirty="0" err="1" smtClean="0">
                <a:solidFill>
                  <a:srgbClr val="434343"/>
                </a:solidFill>
              </a:rPr>
              <a:t>’s</a:t>
            </a:r>
            <a:r>
              <a:rPr lang="en-US" sz="2000" dirty="0" smtClean="0">
                <a:solidFill>
                  <a:srgbClr val="434343"/>
                </a:solidFill>
              </a:rPr>
              <a:t> approach</a:t>
            </a:r>
            <a:endParaRPr lang="en-US" sz="2000" dirty="0">
              <a:solidFill>
                <a:srgbClr val="434343"/>
              </a:solidFill>
            </a:endParaRPr>
          </a:p>
        </p:txBody>
      </p:sp>
    </p:spTree>
    <p:extLst>
      <p:ext uri="{BB962C8B-B14F-4D97-AF65-F5344CB8AC3E}">
        <p14:creationId xmlns:p14="http://schemas.microsoft.com/office/powerpoint/2010/main" val="127432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What does </a:t>
            </a:r>
            <a:r>
              <a:rPr lang="en-US" sz="2200" b="1" i="1" dirty="0" err="1" smtClean="0"/>
              <a:t>optparse</a:t>
            </a:r>
            <a:r>
              <a:rPr lang="en-US" sz="2200" b="1" i="1" dirty="0" smtClean="0"/>
              <a:t>-applicative</a:t>
            </a:r>
            <a:r>
              <a:rPr lang="en-US" sz="2200" dirty="0" smtClean="0"/>
              <a:t> offer?</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Generates nice </a:t>
            </a:r>
            <a:r>
              <a:rPr lang="en-US" sz="2000" dirty="0" err="1" smtClean="0">
                <a:solidFill>
                  <a:srgbClr val="434343"/>
                </a:solidFill>
              </a:rPr>
              <a:t>Posix</a:t>
            </a:r>
            <a:r>
              <a:rPr lang="en-US" sz="2000" dirty="0" smtClean="0">
                <a:solidFill>
                  <a:srgbClr val="434343"/>
                </a:solidFill>
              </a:rPr>
              <a:t>-style parsers</a:t>
            </a:r>
          </a:p>
          <a:p>
            <a:pPr marL="457200" lvl="0" indent="-355600" rtl="0">
              <a:spcBef>
                <a:spcPts val="0"/>
              </a:spcBef>
              <a:buClr>
                <a:srgbClr val="434343"/>
              </a:buClr>
              <a:buSzPct val="100000"/>
              <a:buChar char="●"/>
            </a:pPr>
            <a:r>
              <a:rPr lang="en-US" sz="2000" dirty="0" smtClean="0">
                <a:solidFill>
                  <a:srgbClr val="434343"/>
                </a:solidFill>
              </a:rPr>
              <a:t>Type-safe</a:t>
            </a:r>
          </a:p>
          <a:p>
            <a:pPr marL="457200" lvl="0" indent="-355600" rtl="0">
              <a:spcBef>
                <a:spcPts val="0"/>
              </a:spcBef>
              <a:buClr>
                <a:srgbClr val="434343"/>
              </a:buClr>
              <a:buSzPct val="100000"/>
              <a:buChar char="●"/>
            </a:pPr>
            <a:r>
              <a:rPr lang="en-US" sz="2000" dirty="0" smtClean="0">
                <a:solidFill>
                  <a:srgbClr val="434343"/>
                </a:solidFill>
              </a:rPr>
              <a:t>Powerful and extensible</a:t>
            </a:r>
          </a:p>
          <a:p>
            <a:pPr marL="457200" lvl="0" indent="-355600" rtl="0">
              <a:spcBef>
                <a:spcPts val="0"/>
              </a:spcBef>
              <a:buClr>
                <a:srgbClr val="434343"/>
              </a:buClr>
              <a:buSzPct val="100000"/>
              <a:buChar char="●"/>
            </a:pPr>
            <a:r>
              <a:rPr lang="en-US" sz="2000" dirty="0" smtClean="0">
                <a:solidFill>
                  <a:srgbClr val="434343"/>
                </a:solidFill>
              </a:rPr>
              <a:t>Good error reporting and help/usage information</a:t>
            </a:r>
          </a:p>
          <a:p>
            <a:pPr marL="457200" lvl="0" indent="-355600" rtl="0">
              <a:spcBef>
                <a:spcPts val="0"/>
              </a:spcBef>
              <a:buClr>
                <a:srgbClr val="434343"/>
              </a:buClr>
              <a:buSzPct val="100000"/>
              <a:buChar char="●"/>
            </a:pPr>
            <a:r>
              <a:rPr lang="en-US" sz="2000" dirty="0" smtClean="0">
                <a:solidFill>
                  <a:srgbClr val="434343"/>
                </a:solidFill>
              </a:rPr>
              <a:t>ADTs represent subcommands effectively</a:t>
            </a:r>
          </a:p>
          <a:p>
            <a:pPr marL="457200" lvl="0" indent="-355600" rtl="0">
              <a:spcBef>
                <a:spcPts val="0"/>
              </a:spcBef>
              <a:buClr>
                <a:srgbClr val="434343"/>
              </a:buClr>
              <a:buSzPct val="100000"/>
              <a:buChar char="●"/>
            </a:pPr>
            <a:r>
              <a:rPr lang="en-US" sz="2000" dirty="0" smtClean="0">
                <a:solidFill>
                  <a:srgbClr val="434343"/>
                </a:solidFill>
              </a:rPr>
              <a:t>Idiomatic through its use of composition</a:t>
            </a:r>
            <a:endParaRPr lang="en-US" sz="2000" dirty="0">
              <a:solidFill>
                <a:srgbClr val="434343"/>
              </a:solidFill>
            </a:endParaRPr>
          </a:p>
        </p:txBody>
      </p:sp>
    </p:spTree>
    <p:extLst>
      <p:ext uri="{BB962C8B-B14F-4D97-AF65-F5344CB8AC3E}">
        <p14:creationId xmlns:p14="http://schemas.microsoft.com/office/powerpoint/2010/main" val="851456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Overview</a:t>
            </a:r>
            <a:endParaRPr lang="en" sz="2200" dirty="0"/>
          </a:p>
        </p:txBody>
      </p:sp>
      <p:sp>
        <p:nvSpPr>
          <p:cNvPr id="2" name="TextBox 1"/>
          <p:cNvSpPr txBox="1"/>
          <p:nvPr/>
        </p:nvSpPr>
        <p:spPr>
          <a:xfrm>
            <a:off x="1143000" y="1352550"/>
            <a:ext cx="5161991" cy="1938992"/>
          </a:xfrm>
          <a:prstGeom prst="rect">
            <a:avLst/>
          </a:prstGeom>
          <a:noFill/>
        </p:spPr>
        <p:txBody>
          <a:bodyPr wrap="none" rtlCol="0">
            <a:spAutoFit/>
          </a:bodyPr>
          <a:lstStyle/>
          <a:p>
            <a:r>
              <a:rPr lang="en-US" sz="2400" b="1" dirty="0">
                <a:latin typeface="Courier New" charset="0"/>
                <a:ea typeface="Courier New" charset="0"/>
                <a:cs typeface="Courier New" charset="0"/>
              </a:rPr>
              <a:t>data Parser </a:t>
            </a:r>
            <a:r>
              <a:rPr lang="en-US" sz="2400" b="1" dirty="0" smtClean="0">
                <a:latin typeface="Courier New" charset="0"/>
                <a:ea typeface="Courier New" charset="0"/>
                <a:cs typeface="Courier New" charset="0"/>
              </a:rPr>
              <a:t>a</a:t>
            </a:r>
            <a:br>
              <a:rPr lang="en-US" sz="2400" b="1" dirty="0" smtClean="0">
                <a:latin typeface="Courier New" charset="0"/>
                <a:ea typeface="Courier New" charset="0"/>
                <a:cs typeface="Courier New" charset="0"/>
              </a:rPr>
            </a:br>
            <a:r>
              <a:rPr lang="en-US" sz="2400" b="1" dirty="0" smtClean="0">
                <a:latin typeface="Courier New" charset="0"/>
                <a:ea typeface="Courier New" charset="0"/>
                <a:cs typeface="Courier New" charset="0"/>
              </a:rPr>
              <a:t/>
            </a:r>
            <a:br>
              <a:rPr lang="en-US" sz="2400" b="1" dirty="0" smtClean="0">
                <a:latin typeface="Courier New" charset="0"/>
                <a:ea typeface="Courier New" charset="0"/>
                <a:cs typeface="Courier New" charset="0"/>
              </a:rPr>
            </a:br>
            <a:r>
              <a:rPr lang="en-US" sz="2400" b="1" dirty="0" smtClean="0">
                <a:latin typeface="Courier New" charset="0"/>
                <a:ea typeface="Courier New" charset="0"/>
                <a:cs typeface="Courier New" charset="0"/>
              </a:rPr>
              <a:t>instance </a:t>
            </a:r>
            <a:r>
              <a:rPr lang="en-US" sz="2400" b="1" dirty="0" err="1">
                <a:latin typeface="Courier New" charset="0"/>
                <a:ea typeface="Courier New" charset="0"/>
                <a:cs typeface="Courier New" charset="0"/>
              </a:rPr>
              <a:t>Functor</a:t>
            </a:r>
            <a:r>
              <a:rPr lang="en-US" sz="2400" b="1" dirty="0">
                <a:latin typeface="Courier New" charset="0"/>
                <a:ea typeface="Courier New" charset="0"/>
                <a:cs typeface="Courier New" charset="0"/>
              </a:rPr>
              <a:t> </a:t>
            </a:r>
            <a:r>
              <a:rPr lang="en-US" sz="2400" b="1" dirty="0" smtClean="0">
                <a:latin typeface="Courier New" charset="0"/>
                <a:ea typeface="Courier New" charset="0"/>
                <a:cs typeface="Courier New" charset="0"/>
              </a:rPr>
              <a:t>Parser</a:t>
            </a:r>
            <a:br>
              <a:rPr lang="en-US" sz="2400" b="1" dirty="0" smtClean="0">
                <a:latin typeface="Courier New" charset="0"/>
                <a:ea typeface="Courier New" charset="0"/>
                <a:cs typeface="Courier New" charset="0"/>
              </a:rPr>
            </a:br>
            <a:r>
              <a:rPr lang="en-US" sz="2400" b="1" dirty="0" smtClean="0">
                <a:latin typeface="Courier New" charset="0"/>
                <a:ea typeface="Courier New" charset="0"/>
                <a:cs typeface="Courier New" charset="0"/>
              </a:rPr>
              <a:t>instance </a:t>
            </a:r>
            <a:r>
              <a:rPr lang="en-US" sz="2400" b="1" dirty="0">
                <a:latin typeface="Courier New" charset="0"/>
                <a:ea typeface="Courier New" charset="0"/>
                <a:cs typeface="Courier New" charset="0"/>
              </a:rPr>
              <a:t>Applicative </a:t>
            </a:r>
            <a:r>
              <a:rPr lang="en-US" sz="2400" b="1" dirty="0" smtClean="0">
                <a:latin typeface="Courier New" charset="0"/>
                <a:ea typeface="Courier New" charset="0"/>
                <a:cs typeface="Courier New" charset="0"/>
              </a:rPr>
              <a:t>Parser</a:t>
            </a:r>
            <a:br>
              <a:rPr lang="en-US" sz="2400" b="1" dirty="0" smtClean="0">
                <a:latin typeface="Courier New" charset="0"/>
                <a:ea typeface="Courier New" charset="0"/>
                <a:cs typeface="Courier New" charset="0"/>
              </a:rPr>
            </a:br>
            <a:r>
              <a:rPr lang="en-US" sz="2400" b="1" dirty="0" smtClean="0">
                <a:latin typeface="Courier New" charset="0"/>
                <a:ea typeface="Courier New" charset="0"/>
                <a:cs typeface="Courier New" charset="0"/>
              </a:rPr>
              <a:t>instance </a:t>
            </a:r>
            <a:r>
              <a:rPr lang="en-US" sz="2400" b="1" dirty="0">
                <a:latin typeface="Courier New" charset="0"/>
                <a:ea typeface="Courier New" charset="0"/>
                <a:cs typeface="Courier New" charset="0"/>
              </a:rPr>
              <a:t>Alternative Parser</a:t>
            </a:r>
          </a:p>
        </p:txBody>
      </p:sp>
    </p:spTree>
    <p:extLst>
      <p:ext uri="{BB962C8B-B14F-4D97-AF65-F5344CB8AC3E}">
        <p14:creationId xmlns:p14="http://schemas.microsoft.com/office/powerpoint/2010/main" val="254471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Building parsers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indent="-355600">
              <a:buClr>
                <a:srgbClr val="434343"/>
              </a:buClr>
              <a:buFont typeface="Calibri"/>
              <a:buChar char="●"/>
            </a:pPr>
            <a:r>
              <a:rPr lang="en-US" sz="2000" b="1" i="1" dirty="0">
                <a:solidFill>
                  <a:srgbClr val="434343"/>
                </a:solidFill>
              </a:rPr>
              <a:t>argument :: </a:t>
            </a:r>
            <a:r>
              <a:rPr lang="en-US" sz="2000" b="1" i="1" dirty="0" err="1">
                <a:solidFill>
                  <a:srgbClr val="434343"/>
                </a:solidFill>
              </a:rPr>
              <a:t>ReadM</a:t>
            </a:r>
            <a:r>
              <a:rPr lang="en-US" sz="2000" b="1" i="1" dirty="0">
                <a:solidFill>
                  <a:srgbClr val="434343"/>
                </a:solidFill>
              </a:rPr>
              <a:t> a -&gt; Mod </a:t>
            </a:r>
            <a:r>
              <a:rPr lang="en-US" sz="2000" b="1" i="1" dirty="0" err="1">
                <a:solidFill>
                  <a:srgbClr val="434343"/>
                </a:solidFill>
              </a:rPr>
              <a:t>ArgumentFields</a:t>
            </a:r>
            <a:r>
              <a:rPr lang="en-US" sz="2000" b="1" i="1" dirty="0">
                <a:solidFill>
                  <a:srgbClr val="434343"/>
                </a:solidFill>
              </a:rPr>
              <a:t> a -&gt; Parser </a:t>
            </a:r>
            <a:r>
              <a:rPr lang="en-US" sz="2000" b="1" i="1" dirty="0" smtClean="0">
                <a:solidFill>
                  <a:srgbClr val="434343"/>
                </a:solidFill>
              </a:rPr>
              <a:t>a</a:t>
            </a:r>
          </a:p>
          <a:p>
            <a:pPr marL="457200" indent="-355600">
              <a:buClr>
                <a:srgbClr val="434343"/>
              </a:buClr>
              <a:buFont typeface="Calibri"/>
              <a:buChar char="●"/>
            </a:pPr>
            <a:r>
              <a:rPr lang="en-US" sz="2000" b="1" i="1" dirty="0">
                <a:solidFill>
                  <a:srgbClr val="434343"/>
                </a:solidFill>
              </a:rPr>
              <a:t>auto :: Read a =&gt; </a:t>
            </a:r>
            <a:r>
              <a:rPr lang="en-US" sz="2000" b="1" i="1" dirty="0" err="1">
                <a:solidFill>
                  <a:srgbClr val="434343"/>
                </a:solidFill>
              </a:rPr>
              <a:t>ReadM</a:t>
            </a:r>
            <a:r>
              <a:rPr lang="en-US" sz="2000" b="1" i="1" dirty="0">
                <a:solidFill>
                  <a:srgbClr val="434343"/>
                </a:solidFill>
              </a:rPr>
              <a:t> </a:t>
            </a:r>
            <a:r>
              <a:rPr lang="en-US" sz="2000" b="1" i="1" dirty="0" smtClean="0">
                <a:solidFill>
                  <a:srgbClr val="434343"/>
                </a:solidFill>
              </a:rPr>
              <a:t>a</a:t>
            </a:r>
          </a:p>
          <a:p>
            <a:pPr marL="457200" indent="-355600">
              <a:buClr>
                <a:srgbClr val="434343"/>
              </a:buClr>
              <a:buFont typeface="Calibri"/>
              <a:buChar char="●"/>
            </a:pPr>
            <a:r>
              <a:rPr lang="en-US" sz="2000" b="1" i="1" dirty="0" err="1">
                <a:solidFill>
                  <a:srgbClr val="434343"/>
                </a:solidFill>
              </a:rPr>
              <a:t>metavar</a:t>
            </a:r>
            <a:r>
              <a:rPr lang="en-US" sz="2000" b="1" i="1" dirty="0">
                <a:solidFill>
                  <a:srgbClr val="434343"/>
                </a:solidFill>
              </a:rPr>
              <a:t> :: </a:t>
            </a:r>
            <a:r>
              <a:rPr lang="en-US" sz="2000" b="1" i="1" dirty="0" err="1">
                <a:solidFill>
                  <a:srgbClr val="434343"/>
                </a:solidFill>
              </a:rPr>
              <a:t>HasMetavar</a:t>
            </a:r>
            <a:r>
              <a:rPr lang="en-US" sz="2000" b="1" i="1" dirty="0">
                <a:solidFill>
                  <a:srgbClr val="434343"/>
                </a:solidFill>
              </a:rPr>
              <a:t> f =&gt; String -&gt; Mod f </a:t>
            </a:r>
            <a:r>
              <a:rPr lang="en-US" sz="2000" b="1" i="1" dirty="0" smtClean="0">
                <a:solidFill>
                  <a:srgbClr val="434343"/>
                </a:solidFill>
              </a:rPr>
              <a:t>a</a:t>
            </a:r>
          </a:p>
          <a:p>
            <a:pPr marL="457200" indent="-355600">
              <a:buClr>
                <a:srgbClr val="434343"/>
              </a:buClr>
              <a:buFont typeface="Calibri"/>
              <a:buChar char="●"/>
            </a:pPr>
            <a:r>
              <a:rPr lang="en-US" sz="2000" b="1" i="1" dirty="0">
                <a:solidFill>
                  <a:srgbClr val="434343"/>
                </a:solidFill>
              </a:rPr>
              <a:t>help :: String -&gt; Mod f a</a:t>
            </a:r>
            <a:endParaRPr lang="en-US" sz="2000" b="1" i="1" dirty="0" smtClean="0">
              <a:solidFill>
                <a:srgbClr val="434343"/>
              </a:solidFill>
            </a:endParaRPr>
          </a:p>
        </p:txBody>
      </p:sp>
    </p:spTree>
    <p:extLst>
      <p:ext uri="{BB962C8B-B14F-4D97-AF65-F5344CB8AC3E}">
        <p14:creationId xmlns:p14="http://schemas.microsoft.com/office/powerpoint/2010/main" val="79877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smtClean="0"/>
              <a:t>Running parsers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indent="-355600">
              <a:buClr>
                <a:srgbClr val="434343"/>
              </a:buClr>
              <a:buFont typeface="Calibri"/>
              <a:buChar char="●"/>
            </a:pPr>
            <a:r>
              <a:rPr lang="en-US" sz="2000" b="1" i="1" dirty="0">
                <a:solidFill>
                  <a:srgbClr val="434343"/>
                </a:solidFill>
              </a:rPr>
              <a:t>info :: Parser a -&gt; </a:t>
            </a:r>
            <a:r>
              <a:rPr lang="en-US" sz="2000" b="1" i="1" dirty="0" err="1">
                <a:solidFill>
                  <a:srgbClr val="434343"/>
                </a:solidFill>
              </a:rPr>
              <a:t>InfoMod</a:t>
            </a:r>
            <a:r>
              <a:rPr lang="en-US" sz="2000" b="1" i="1" dirty="0">
                <a:solidFill>
                  <a:srgbClr val="434343"/>
                </a:solidFill>
              </a:rPr>
              <a:t> a -&gt; </a:t>
            </a:r>
            <a:r>
              <a:rPr lang="en-US" sz="2000" b="1" i="1" dirty="0" err="1">
                <a:solidFill>
                  <a:srgbClr val="434343"/>
                </a:solidFill>
              </a:rPr>
              <a:t>ParserInfo</a:t>
            </a:r>
            <a:r>
              <a:rPr lang="en-US" sz="2000" b="1" i="1" dirty="0">
                <a:solidFill>
                  <a:srgbClr val="434343"/>
                </a:solidFill>
              </a:rPr>
              <a:t> </a:t>
            </a:r>
            <a:r>
              <a:rPr lang="en-US" sz="2000" b="1" i="1" dirty="0" smtClean="0">
                <a:solidFill>
                  <a:srgbClr val="434343"/>
                </a:solidFill>
              </a:rPr>
              <a:t>a</a:t>
            </a:r>
          </a:p>
          <a:p>
            <a:pPr marL="457200" lvl="0" indent="-355600">
              <a:buClr>
                <a:srgbClr val="434343"/>
              </a:buClr>
              <a:buChar char="●"/>
            </a:pPr>
            <a:r>
              <a:rPr lang="en-US" sz="2000" b="1" i="1" dirty="0" err="1">
                <a:solidFill>
                  <a:srgbClr val="434343"/>
                </a:solidFill>
              </a:rPr>
              <a:t>progDesc</a:t>
            </a:r>
            <a:r>
              <a:rPr lang="en-US" sz="2000" b="1" i="1" dirty="0">
                <a:solidFill>
                  <a:srgbClr val="434343"/>
                </a:solidFill>
              </a:rPr>
              <a:t> :: String -&gt; </a:t>
            </a:r>
            <a:r>
              <a:rPr lang="en-US" sz="2000" b="1" i="1" dirty="0" err="1">
                <a:solidFill>
                  <a:srgbClr val="434343"/>
                </a:solidFill>
              </a:rPr>
              <a:t>InfoMod</a:t>
            </a:r>
            <a:r>
              <a:rPr lang="en-US" sz="2000" b="1" i="1" dirty="0">
                <a:solidFill>
                  <a:srgbClr val="434343"/>
                </a:solidFill>
              </a:rPr>
              <a:t> </a:t>
            </a:r>
            <a:r>
              <a:rPr lang="en-US" sz="2000" b="1" i="1" dirty="0" smtClean="0">
                <a:solidFill>
                  <a:srgbClr val="434343"/>
                </a:solidFill>
              </a:rPr>
              <a:t>a</a:t>
            </a:r>
          </a:p>
          <a:p>
            <a:pPr marL="457200" lvl="0" indent="-355600">
              <a:buClr>
                <a:srgbClr val="434343"/>
              </a:buClr>
              <a:buChar char="●"/>
            </a:pPr>
            <a:r>
              <a:rPr lang="en-US" sz="2000" b="1" i="1" dirty="0" err="1">
                <a:solidFill>
                  <a:srgbClr val="434343"/>
                </a:solidFill>
              </a:rPr>
              <a:t>execParser</a:t>
            </a:r>
            <a:r>
              <a:rPr lang="en-US" sz="2000" b="1" i="1" dirty="0">
                <a:solidFill>
                  <a:srgbClr val="434343"/>
                </a:solidFill>
              </a:rPr>
              <a:t> :: </a:t>
            </a:r>
            <a:r>
              <a:rPr lang="en-US" sz="2000" b="1" i="1" dirty="0" err="1">
                <a:solidFill>
                  <a:srgbClr val="434343"/>
                </a:solidFill>
              </a:rPr>
              <a:t>ParserInfo</a:t>
            </a:r>
            <a:r>
              <a:rPr lang="en-US" sz="2000" b="1" i="1" dirty="0">
                <a:solidFill>
                  <a:srgbClr val="434343"/>
                </a:solidFill>
              </a:rPr>
              <a:t> a -&gt; IO a</a:t>
            </a:r>
            <a:endParaRPr lang="en-US" sz="2000" b="1" i="1" dirty="0" smtClean="0">
              <a:solidFill>
                <a:srgbClr val="434343"/>
              </a:solidFill>
            </a:endParaRPr>
          </a:p>
        </p:txBody>
      </p:sp>
    </p:spTree>
    <p:extLst>
      <p:ext uri="{BB962C8B-B14F-4D97-AF65-F5344CB8AC3E}">
        <p14:creationId xmlns:p14="http://schemas.microsoft.com/office/powerpoint/2010/main" val="873562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smtClean="0"/>
              <a:t>Next Video</a:t>
            </a:r>
            <a:endParaRPr lang="en" dirty="0"/>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 dirty="0"/>
              <a:t>ADTs for command-line options</a:t>
            </a:r>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TotalTime>
  <Words>391</Words>
  <Application>Microsoft Office PowerPoint</Application>
  <PresentationFormat>On-screen Show (16:9)</PresentationFormat>
  <Paragraphs>45</Paragraphs>
  <Slides>9</Slides>
  <Notes>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Arial</vt:lpstr>
      <vt:lpstr>Calibri</vt:lpstr>
      <vt:lpstr>Courier New</vt:lpstr>
      <vt:lpstr>Roboto</vt:lpstr>
      <vt:lpstr>Wingdings</vt:lpstr>
      <vt:lpstr>Packt</vt:lpstr>
      <vt:lpstr>Packt</vt:lpstr>
      <vt:lpstr>The command line</vt:lpstr>
      <vt:lpstr>What We’ll Learn</vt:lpstr>
      <vt:lpstr>The Applicative Way</vt:lpstr>
      <vt:lpstr>In this video, we’re going to take a look at…</vt:lpstr>
      <vt:lpstr>What does optparse-applicative offer?</vt:lpstr>
      <vt:lpstr>Overview</vt:lpstr>
      <vt:lpstr>Building parsers</vt:lpstr>
      <vt:lpstr>Running parsers</vt:lpstr>
      <vt:lpstr>Next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48</cp:revision>
  <dcterms:modified xsi:type="dcterms:W3CDTF">2017-06-10T18:10:26Z</dcterms:modified>
</cp:coreProperties>
</file>